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256" r:id="rId5"/>
    <p:sldId id="257" r:id="rId6"/>
    <p:sldId id="258" r:id="rId7"/>
    <p:sldId id="259" r:id="rId8"/>
    <p:sldId id="260" r:id="rId9"/>
    <p:sldId id="261" r:id="rId10"/>
    <p:sldId id="262" r:id="rId11"/>
    <p:sldId id="263" r:id="rId12"/>
    <p:sldId id="264"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ki Abdulovski (23177314)" userId="143e72f9-c0ec-42a4-9cd0-e13051127ae3" providerId="ADAL" clId="{EF9756E4-173B-498E-848A-F86CF3E65A29}"/>
    <pc:docChg chg="undo custSel modSld">
      <pc:chgData name="Haki Abdulovski (23177314)" userId="143e72f9-c0ec-42a4-9cd0-e13051127ae3" providerId="ADAL" clId="{EF9756E4-173B-498E-848A-F86CF3E65A29}" dt="2026-09-10T23:28:05.119" v="78" actId="1076"/>
      <pc:docMkLst>
        <pc:docMk/>
      </pc:docMkLst>
      <pc:sldChg chg="addSp delSp modSp mod">
        <pc:chgData name="Haki Abdulovski (23177314)" userId="143e72f9-c0ec-42a4-9cd0-e13051127ae3" providerId="ADAL" clId="{EF9756E4-173B-498E-848A-F86CF3E65A29}" dt="2026-09-10T22:27:03.979" v="51" actId="14100"/>
        <pc:sldMkLst>
          <pc:docMk/>
          <pc:sldMk cId="0" sldId="259"/>
        </pc:sldMkLst>
        <pc:spChg chg="mod">
          <ac:chgData name="Haki Abdulovski (23177314)" userId="143e72f9-c0ec-42a4-9cd0-e13051127ae3" providerId="ADAL" clId="{EF9756E4-173B-498E-848A-F86CF3E65A29}" dt="2026-09-10T22:16:04.167" v="34" actId="20577"/>
          <ac:spMkLst>
            <pc:docMk/>
            <pc:sldMk cId="0" sldId="259"/>
            <ac:spMk id="2" creationId="{00000000-0000-0000-0000-000000000000}"/>
          </ac:spMkLst>
        </pc:spChg>
        <pc:spChg chg="del">
          <ac:chgData name="Haki Abdulovski (23177314)" userId="143e72f9-c0ec-42a4-9cd0-e13051127ae3" providerId="ADAL" clId="{EF9756E4-173B-498E-848A-F86CF3E65A29}" dt="2026-09-10T22:26:20.273" v="36" actId="478"/>
          <ac:spMkLst>
            <pc:docMk/>
            <pc:sldMk cId="0" sldId="259"/>
            <ac:spMk id="5" creationId="{00000000-0000-0000-0000-000000000000}"/>
          </ac:spMkLst>
        </pc:spChg>
        <pc:spChg chg="del">
          <ac:chgData name="Haki Abdulovski (23177314)" userId="143e72f9-c0ec-42a4-9cd0-e13051127ae3" providerId="ADAL" clId="{EF9756E4-173B-498E-848A-F86CF3E65A29}" dt="2026-09-10T22:26:25.009" v="37" actId="478"/>
          <ac:spMkLst>
            <pc:docMk/>
            <pc:sldMk cId="0" sldId="259"/>
            <ac:spMk id="6" creationId="{00000000-0000-0000-0000-000000000000}"/>
          </ac:spMkLst>
        </pc:spChg>
        <pc:spChg chg="del">
          <ac:chgData name="Haki Abdulovski (23177314)" userId="143e72f9-c0ec-42a4-9cd0-e13051127ae3" providerId="ADAL" clId="{EF9756E4-173B-498E-848A-F86CF3E65A29}" dt="2026-09-10T22:26:19.569" v="35" actId="478"/>
          <ac:spMkLst>
            <pc:docMk/>
            <pc:sldMk cId="0" sldId="259"/>
            <ac:spMk id="7" creationId="{00000000-0000-0000-0000-000000000000}"/>
          </ac:spMkLst>
        </pc:spChg>
        <pc:picChg chg="add del">
          <ac:chgData name="Haki Abdulovski (23177314)" userId="143e72f9-c0ec-42a4-9cd0-e13051127ae3" providerId="ADAL" clId="{EF9756E4-173B-498E-848A-F86CF3E65A29}" dt="2026-09-10T22:26:41.131" v="40" actId="22"/>
          <ac:picMkLst>
            <pc:docMk/>
            <pc:sldMk cId="0" sldId="259"/>
            <ac:picMk id="18" creationId="{BDAC5BB2-C61E-E28A-8D00-261C8A07CA15}"/>
          </ac:picMkLst>
        </pc:picChg>
        <pc:picChg chg="add mod">
          <ac:chgData name="Haki Abdulovski (23177314)" userId="143e72f9-c0ec-42a4-9cd0-e13051127ae3" providerId="ADAL" clId="{EF9756E4-173B-498E-848A-F86CF3E65A29}" dt="2026-09-10T22:27:03.979" v="51" actId="14100"/>
          <ac:picMkLst>
            <pc:docMk/>
            <pc:sldMk cId="0" sldId="259"/>
            <ac:picMk id="22" creationId="{B20BF112-34AF-2BF8-E262-72A703DBCA41}"/>
          </ac:picMkLst>
        </pc:picChg>
      </pc:sldChg>
      <pc:sldChg chg="addSp modSp mod">
        <pc:chgData name="Haki Abdulovski (23177314)" userId="143e72f9-c0ec-42a4-9cd0-e13051127ae3" providerId="ADAL" clId="{EF9756E4-173B-498E-848A-F86CF3E65A29}" dt="2026-09-10T23:28:05.119" v="78" actId="1076"/>
        <pc:sldMkLst>
          <pc:docMk/>
          <pc:sldMk cId="0" sldId="262"/>
        </pc:sldMkLst>
        <pc:spChg chg="mod">
          <ac:chgData name="Haki Abdulovski (23177314)" userId="143e72f9-c0ec-42a4-9cd0-e13051127ae3" providerId="ADAL" clId="{EF9756E4-173B-498E-848A-F86CF3E65A29}" dt="2026-09-10T23:04:01.110" v="52" actId="20577"/>
          <ac:spMkLst>
            <pc:docMk/>
            <pc:sldMk cId="0" sldId="262"/>
            <ac:spMk id="16" creationId="{3CA9B6B1-844B-EA68-11FE-8548404FC002}"/>
          </ac:spMkLst>
        </pc:spChg>
        <pc:picChg chg="add mod">
          <ac:chgData name="Haki Abdulovski (23177314)" userId="143e72f9-c0ec-42a4-9cd0-e13051127ae3" providerId="ADAL" clId="{EF9756E4-173B-498E-848A-F86CF3E65A29}" dt="2026-09-10T23:28:05.119" v="78" actId="1076"/>
          <ac:picMkLst>
            <pc:docMk/>
            <pc:sldMk cId="0" sldId="262"/>
            <ac:picMk id="13" creationId="{9F6B3A2B-3881-3410-5D2A-405739EA8193}"/>
          </ac:picMkLst>
        </pc:picChg>
      </pc:sldChg>
      <pc:sldChg chg="modSp mod">
        <pc:chgData name="Haki Abdulovski (23177314)" userId="143e72f9-c0ec-42a4-9cd0-e13051127ae3" providerId="ADAL" clId="{EF9756E4-173B-498E-848A-F86CF3E65A29}" dt="2026-09-10T23:26:22.411" v="71" actId="20577"/>
        <pc:sldMkLst>
          <pc:docMk/>
          <pc:sldMk cId="0" sldId="264"/>
        </pc:sldMkLst>
        <pc:spChg chg="mod">
          <ac:chgData name="Haki Abdulovski (23177314)" userId="143e72f9-c0ec-42a4-9cd0-e13051127ae3" providerId="ADAL" clId="{EF9756E4-173B-498E-848A-F86CF3E65A29}" dt="2026-09-10T23:26:22.411" v="71" actId="20577"/>
          <ac:spMkLst>
            <pc:docMk/>
            <pc:sldMk cId="0" sldId="264"/>
            <ac:spMk id="2" creationId="{00000000-0000-0000-0000-000000000000}"/>
          </ac:spMkLst>
        </pc:spChg>
      </pc:sldChg>
      <pc:sldChg chg="addSp modSp mod">
        <pc:chgData name="Haki Abdulovski (23177314)" userId="143e72f9-c0ec-42a4-9cd0-e13051127ae3" providerId="ADAL" clId="{EF9756E4-173B-498E-848A-F86CF3E65A29}" dt="2026-09-10T23:27:47.165" v="76" actId="1076"/>
        <pc:sldMkLst>
          <pc:docMk/>
          <pc:sldMk cId="0" sldId="266"/>
        </pc:sldMkLst>
        <pc:picChg chg="add mod modCrop">
          <ac:chgData name="Haki Abdulovski (23177314)" userId="143e72f9-c0ec-42a4-9cd0-e13051127ae3" providerId="ADAL" clId="{EF9756E4-173B-498E-848A-F86CF3E65A29}" dt="2026-09-10T23:27:47.165" v="76" actId="1076"/>
          <ac:picMkLst>
            <pc:docMk/>
            <pc:sldMk cId="0" sldId="266"/>
            <ac:picMk id="10" creationId="{68D11B45-15BE-1F04-2ED1-8C5569178AC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8852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45 seconds.
Open with the name STUDYSTART and the basic problem: arriving at THUAS does not automatically mean you understand the systems. Explain that this is not a generic student app: it is built for new international students who need a calm, practical onboarding tool. Mention that the deck will cover problem, SDG fit, solution, demo, build process and ethics.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Explain the problem as a real onboarding problem, not a technical problem. Students may be admitted and still feel lost because Brightspace, OSIRIS, MyTimeTable, ECTS and support routes are unfamiliar. The key phrase is: small practical confusion can grow into study stress if students hesitate to 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Make the user group concrete. Avoid calling users vulnerable in the app interface; instead say they need extra support or may not feel comfortable asking questions yet. Also explicitly name who is not the target user: experienced THUAS students and people needing official personal advice.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Connect the app explicitly to SDG 4. Do not just say it has the SDG logo. Explain the issue: students need to understand study systems and support routes to participate effectively in education. This slide also prepares the rubric: concrete problem, concrete users, and why the solution addresses SDG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Introduce the five modules. Emphasize why each one exists. Brightspace and OSIRIS are different; MyTimeTable includes location and real room examples; Getting Help is especially important for students who hesitate to ask. Do not spend too long on every module because the demo will show one in detail.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Explain the difference between this and a normal information page. A student does something: reads, watches, answers and gets feedback. Mention that videos are optional and do not block completion. The official links are useful after learning, not a replacement for learning.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2 minutes for the live demo.
Use this slide as a transition, then switch to the browser. Show the app working from input to output: select module, consume learning content, play the embedded video, answer quiz, see feedback and completion, then click the official link. Mention that YouTube embeds did not work in Bolt preview but work on the deployed website.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This slide helps with the AI-tool criterion. Explain that Bolt was not just mentioned; it built the React app and was used iteratively. Show that you followed the lecture: planning first, asking for implementation plans, approving scoped changes and testing. Mention no new dependency was added for video embeds.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75 seconds.
Keep this honest and specific. Do not say generic AI bias only. The real risks are exclusion, outdated information, and false confidence. Explain consequences: a student could miss a deadline or contact the wrong place. Explain mitigations: official links, no fake contact details, no personal advice, and supportive language.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hyperlink" Target="https://thuas-international-p9es.bolt.host/"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E"/>
        </a:solidFill>
        <a:effectLst/>
      </p:bgPr>
    </p:bg>
    <p:spTree>
      <p:nvGrpSpPr>
        <p:cNvPr id="1" name=""/>
        <p:cNvGrpSpPr/>
        <p:nvPr/>
      </p:nvGrpSpPr>
      <p:grpSpPr>
        <a:xfrm>
          <a:off x="0" y="0"/>
          <a:ext cx="0" cy="0"/>
          <a:chOff x="0" y="0"/>
          <a:chExt cx="0" cy="0"/>
        </a:xfrm>
      </p:grpSpPr>
      <p:pic>
        <p:nvPicPr>
          <p:cNvPr id="2" name="Image 0" descr="/mnt/data/a_wide_cinematic_photorealistic_scene_of_a_moder.png"/>
          <p:cNvPicPr>
            <a:picLocks noChangeAspect="1"/>
          </p:cNvPicPr>
          <p:nvPr/>
        </p:nvPicPr>
        <p:blipFill>
          <a:blip r:embed="rId3"/>
          <a:stretch>
            <a:fillRect/>
          </a:stretch>
        </p:blipFill>
        <p:spPr>
          <a:xfrm>
            <a:off x="5852160" y="868680"/>
            <a:ext cx="5989320" cy="3364992"/>
          </a:xfrm>
          <a:prstGeom prst="rect">
            <a:avLst/>
          </a:prstGeom>
        </p:spPr>
      </p:pic>
      <p:sp>
        <p:nvSpPr>
          <p:cNvPr id="3" name="Shape 0"/>
          <p:cNvSpPr/>
          <p:nvPr/>
        </p:nvSpPr>
        <p:spPr>
          <a:xfrm>
            <a:off x="685800" y="667512"/>
            <a:ext cx="2286000" cy="310896"/>
          </a:xfrm>
          <a:prstGeom prst="roundRect">
            <a:avLst>
              <a:gd name="adj" fmla="val 23529"/>
            </a:avLst>
          </a:prstGeom>
          <a:solidFill>
            <a:srgbClr val="DDF3EF"/>
          </a:solidFill>
          <a:ln w="12700">
            <a:solidFill>
              <a:srgbClr val="DDF3EF"/>
            </a:solidFill>
            <a:prstDash val="solid"/>
          </a:ln>
        </p:spPr>
        <p:txBody>
          <a:bodyPr/>
          <a:lstStyle/>
          <a:p>
            <a:endParaRPr lang="nl-NL"/>
          </a:p>
        </p:txBody>
      </p:sp>
      <p:sp>
        <p:nvSpPr>
          <p:cNvPr id="4" name="Text 1"/>
          <p:cNvSpPr/>
          <p:nvPr/>
        </p:nvSpPr>
        <p:spPr>
          <a:xfrm>
            <a:off x="795528" y="749808"/>
            <a:ext cx="2066544" cy="146304"/>
          </a:xfrm>
          <a:prstGeom prst="rect">
            <a:avLst/>
          </a:prstGeom>
          <a:noFill/>
          <a:ln/>
        </p:spPr>
        <p:txBody>
          <a:bodyPr wrap="square" lIns="0" tIns="0" rIns="0" bIns="0" rtlCol="0" anchor="ctr"/>
          <a:lstStyle/>
          <a:p>
            <a:pPr marL="0" indent="0" algn="ctr">
              <a:buNone/>
            </a:pPr>
            <a:r>
              <a:rPr lang="en-US" sz="850" b="1" dirty="0">
                <a:solidFill>
                  <a:srgbClr val="0E6B66"/>
                </a:solidFill>
              </a:rPr>
              <a:t>AI FOR GOOD · HACKATHON 1</a:t>
            </a:r>
            <a:endParaRPr lang="en-US" sz="850" dirty="0"/>
          </a:p>
        </p:txBody>
      </p:sp>
      <p:sp>
        <p:nvSpPr>
          <p:cNvPr id="5" name="Text 2"/>
          <p:cNvSpPr/>
          <p:nvPr/>
        </p:nvSpPr>
        <p:spPr>
          <a:xfrm>
            <a:off x="667512" y="1325880"/>
            <a:ext cx="4800600" cy="658368"/>
          </a:xfrm>
          <a:prstGeom prst="rect">
            <a:avLst/>
          </a:prstGeom>
          <a:noFill/>
          <a:ln/>
        </p:spPr>
        <p:txBody>
          <a:bodyPr wrap="square" lIns="0" tIns="0" rIns="0" bIns="0" rtlCol="0" anchor="ctr"/>
          <a:lstStyle/>
          <a:p>
            <a:pPr marL="0" indent="0">
              <a:buNone/>
            </a:pPr>
            <a:r>
              <a:rPr lang="en-US" sz="4200" b="1" dirty="0">
                <a:solidFill>
                  <a:srgbClr val="173236"/>
                </a:solidFill>
                <a:latin typeface="Aptos Display" pitchFamily="34" charset="0"/>
                <a:ea typeface="Aptos Display" pitchFamily="34" charset="-122"/>
                <a:cs typeface="Aptos Display" pitchFamily="34" charset="-120"/>
              </a:rPr>
              <a:t>STUDYSTART</a:t>
            </a:r>
            <a:endParaRPr lang="en-US" sz="4200" dirty="0"/>
          </a:p>
        </p:txBody>
      </p:sp>
      <p:sp>
        <p:nvSpPr>
          <p:cNvPr id="6" name="Text 3"/>
          <p:cNvSpPr/>
          <p:nvPr/>
        </p:nvSpPr>
        <p:spPr>
          <a:xfrm>
            <a:off x="704088" y="2084832"/>
            <a:ext cx="4389120" cy="731520"/>
          </a:xfrm>
          <a:prstGeom prst="rect">
            <a:avLst/>
          </a:prstGeom>
          <a:noFill/>
          <a:ln/>
        </p:spPr>
        <p:txBody>
          <a:bodyPr wrap="square" lIns="0" tIns="0" rIns="0" bIns="0" rtlCol="0" anchor="ctr">
            <a:normAutofit/>
          </a:bodyPr>
          <a:lstStyle/>
          <a:p>
            <a:pPr marL="0" indent="0">
              <a:buNone/>
            </a:pPr>
            <a:r>
              <a:rPr lang="en-US" sz="1800" dirty="0">
                <a:solidFill>
                  <a:srgbClr val="5B6B70"/>
                </a:solidFill>
              </a:rPr>
              <a:t>Helping new international THUAS students find their way.</a:t>
            </a:r>
            <a:endParaRPr lang="en-US" sz="1800" dirty="0"/>
          </a:p>
        </p:txBody>
      </p:sp>
      <p:sp>
        <p:nvSpPr>
          <p:cNvPr id="7" name="Shape 4"/>
          <p:cNvSpPr/>
          <p:nvPr/>
        </p:nvSpPr>
        <p:spPr>
          <a:xfrm>
            <a:off x="713232" y="3063240"/>
            <a:ext cx="3383280" cy="0"/>
          </a:xfrm>
          <a:prstGeom prst="line">
            <a:avLst/>
          </a:prstGeom>
          <a:noFill/>
          <a:ln w="50800">
            <a:solidFill>
              <a:srgbClr val="F2B84B"/>
            </a:solidFill>
            <a:prstDash val="solid"/>
          </a:ln>
        </p:spPr>
        <p:txBody>
          <a:bodyPr/>
          <a:lstStyle/>
          <a:p>
            <a:endParaRPr lang="nl-NL"/>
          </a:p>
        </p:txBody>
      </p:sp>
      <p:sp>
        <p:nvSpPr>
          <p:cNvPr id="8" name="Text 5"/>
          <p:cNvSpPr/>
          <p:nvPr/>
        </p:nvSpPr>
        <p:spPr>
          <a:xfrm>
            <a:off x="713232" y="3337560"/>
            <a:ext cx="4389120" cy="320040"/>
          </a:xfrm>
          <a:prstGeom prst="rect">
            <a:avLst/>
          </a:prstGeom>
          <a:noFill/>
          <a:ln/>
        </p:spPr>
        <p:txBody>
          <a:bodyPr wrap="square" lIns="0" tIns="0" rIns="0" bIns="0" rtlCol="0" anchor="ctr"/>
          <a:lstStyle/>
          <a:p>
            <a:pPr marL="0" indent="0">
              <a:buNone/>
            </a:pPr>
            <a:r>
              <a:rPr lang="en-US" sz="1400" b="1" dirty="0">
                <a:solidFill>
                  <a:srgbClr val="0E6B66"/>
                </a:solidFill>
              </a:rPr>
              <a:t>A learning app for SDG 4 · Quality Education</a:t>
            </a:r>
            <a:endParaRPr lang="en-US" sz="1400" dirty="0"/>
          </a:p>
        </p:txBody>
      </p:sp>
      <p:sp>
        <p:nvSpPr>
          <p:cNvPr id="9" name="Text 6"/>
          <p:cNvSpPr/>
          <p:nvPr/>
        </p:nvSpPr>
        <p:spPr>
          <a:xfrm>
            <a:off x="713232" y="6309360"/>
            <a:ext cx="3657600" cy="228600"/>
          </a:xfrm>
          <a:prstGeom prst="rect">
            <a:avLst/>
          </a:prstGeom>
          <a:noFill/>
          <a:ln/>
        </p:spPr>
        <p:txBody>
          <a:bodyPr wrap="square" lIns="0" tIns="0" rIns="0" bIns="0" rtlCol="0" anchor="ctr"/>
          <a:lstStyle/>
          <a:p>
            <a:pPr marL="0" indent="0">
              <a:buNone/>
            </a:pPr>
            <a:r>
              <a:rPr lang="en-US" sz="950" dirty="0">
                <a:solidFill>
                  <a:srgbClr val="5B6B70"/>
                </a:solidFill>
              </a:rPr>
              <a:t>10-minute pitch + live demo</a:t>
            </a:r>
            <a:endParaRPr lang="en-US" sz="950" dirty="0"/>
          </a:p>
        </p:txBody>
      </p:sp>
      <p:sp>
        <p:nvSpPr>
          <p:cNvPr id="10" name="TextBox 9">
            <a:extLst>
              <a:ext uri="{FF2B5EF4-FFF2-40B4-BE49-F238E27FC236}">
                <a16:creationId xmlns:a16="http://schemas.microsoft.com/office/drawing/2014/main" id="{F59D0456-BDD9-B6EA-9F7B-DB51259D0329}"/>
              </a:ext>
            </a:extLst>
          </p:cNvPr>
          <p:cNvSpPr txBox="1"/>
          <p:nvPr/>
        </p:nvSpPr>
        <p:spPr>
          <a:xfrm>
            <a:off x="10450742" y="4401573"/>
            <a:ext cx="1452642" cy="415498"/>
          </a:xfrm>
          <a:prstGeom prst="rect">
            <a:avLst/>
          </a:prstGeom>
          <a:noFill/>
        </p:spPr>
        <p:txBody>
          <a:bodyPr wrap="none" rtlCol="0">
            <a:spAutoFit/>
          </a:bodyPr>
          <a:lstStyle/>
          <a:p>
            <a:r>
              <a:rPr lang="nl-NL" sz="1050" dirty="0"/>
              <a:t>Haki Abdulovski</a:t>
            </a:r>
          </a:p>
          <a:p>
            <a:r>
              <a:rPr lang="nl-NL" sz="1050" dirty="0" err="1"/>
              <a:t>Iqbal</a:t>
            </a:r>
            <a:r>
              <a:rPr lang="nl-NL" sz="1050" dirty="0"/>
              <a:t> </a:t>
            </a:r>
            <a:r>
              <a:rPr lang="nl-NL" sz="1050" dirty="0" err="1"/>
              <a:t>Tawakkal</a:t>
            </a:r>
            <a:r>
              <a:rPr lang="nl-NL" sz="1050" dirty="0"/>
              <a:t> </a:t>
            </a:r>
            <a:r>
              <a:rPr lang="nl-NL" sz="1050" dirty="0" err="1"/>
              <a:t>Sobari</a:t>
            </a:r>
            <a:endParaRPr lang="nl-NL" sz="1050" dirty="0"/>
          </a:p>
        </p:txBody>
      </p:sp>
      <p:pic>
        <p:nvPicPr>
          <p:cNvPr id="13" name="Picture 12">
            <a:extLst>
              <a:ext uri="{FF2B5EF4-FFF2-40B4-BE49-F238E27FC236}">
                <a16:creationId xmlns:a16="http://schemas.microsoft.com/office/drawing/2014/main" id="{96C500EE-BDDC-50DB-DE14-C08E5A6C4B8A}"/>
              </a:ext>
            </a:extLst>
          </p:cNvPr>
          <p:cNvPicPr>
            <a:picLocks noChangeAspect="1"/>
          </p:cNvPicPr>
          <p:nvPr/>
        </p:nvPicPr>
        <p:blipFill>
          <a:blip r:embed="rId4"/>
          <a:stretch>
            <a:fillRect/>
          </a:stretch>
        </p:blipFill>
        <p:spPr>
          <a:xfrm>
            <a:off x="10512646" y="5255653"/>
            <a:ext cx="1328834" cy="13288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502920" y="292608"/>
            <a:ext cx="7132320" cy="411480"/>
          </a:xfrm>
          <a:prstGeom prst="rect">
            <a:avLst/>
          </a:prstGeom>
          <a:noFill/>
          <a:ln/>
        </p:spPr>
        <p:txBody>
          <a:bodyPr wrap="square" lIns="0" tIns="0" rIns="0" bIns="0" rtlCol="0" anchor="ctr"/>
          <a:lstStyle/>
          <a:p>
            <a:pPr marL="0" indent="0">
              <a:buNone/>
            </a:pPr>
            <a:r>
              <a:rPr lang="en-US" sz="2400" b="1" dirty="0">
                <a:solidFill>
                  <a:srgbClr val="173236"/>
                </a:solidFill>
                <a:latin typeface="Aptos Display" pitchFamily="34" charset="0"/>
                <a:ea typeface="Aptos Display" pitchFamily="34" charset="-122"/>
                <a:cs typeface="Aptos Display" pitchFamily="34" charset="-120"/>
              </a:rPr>
              <a:t>The problem</a:t>
            </a:r>
            <a:endParaRPr lang="en-US" sz="2400" dirty="0"/>
          </a:p>
        </p:txBody>
      </p:sp>
      <p:sp>
        <p:nvSpPr>
          <p:cNvPr id="3" name="Text 1"/>
          <p:cNvSpPr/>
          <p:nvPr/>
        </p:nvSpPr>
        <p:spPr>
          <a:xfrm>
            <a:off x="530352" y="749808"/>
            <a:ext cx="8412480" cy="292608"/>
          </a:xfrm>
          <a:prstGeom prst="rect">
            <a:avLst/>
          </a:prstGeom>
          <a:noFill/>
          <a:ln/>
        </p:spPr>
        <p:txBody>
          <a:bodyPr wrap="square" lIns="0" tIns="0" rIns="0" bIns="0" rtlCol="0" anchor="ctr"/>
          <a:lstStyle/>
          <a:p>
            <a:pPr marL="0" indent="0">
              <a:buNone/>
            </a:pPr>
            <a:r>
              <a:rPr lang="en-US" sz="1050" dirty="0">
                <a:solidFill>
                  <a:srgbClr val="5B6B70"/>
                </a:solidFill>
              </a:rPr>
              <a:t>Access to education is not the same as knowing how to navigate it.</a:t>
            </a:r>
            <a:endParaRPr lang="en-US" sz="1050" dirty="0"/>
          </a:p>
        </p:txBody>
      </p:sp>
      <p:sp>
        <p:nvSpPr>
          <p:cNvPr id="4" name="Shape 2"/>
          <p:cNvSpPr/>
          <p:nvPr/>
        </p:nvSpPr>
        <p:spPr>
          <a:xfrm>
            <a:off x="512064" y="1133856"/>
            <a:ext cx="1828800" cy="0"/>
          </a:xfrm>
          <a:prstGeom prst="line">
            <a:avLst/>
          </a:prstGeom>
          <a:noFill/>
          <a:ln w="25400">
            <a:solidFill>
              <a:srgbClr val="0E6B66"/>
            </a:solidFill>
            <a:prstDash val="solid"/>
          </a:ln>
        </p:spPr>
        <p:txBody>
          <a:bodyPr/>
          <a:lstStyle/>
          <a:p>
            <a:endParaRPr lang="nl-NL"/>
          </a:p>
        </p:txBody>
      </p:sp>
      <p:pic>
        <p:nvPicPr>
          <p:cNvPr id="5" name="Image 0" descr="/mnt/data/a_realistic_softly_lit_interior_scene_of_a_modern.png"/>
          <p:cNvPicPr>
            <a:picLocks noChangeAspect="1"/>
          </p:cNvPicPr>
          <p:nvPr/>
        </p:nvPicPr>
        <p:blipFill>
          <a:blip r:embed="rId3"/>
          <a:stretch>
            <a:fillRect/>
          </a:stretch>
        </p:blipFill>
        <p:spPr>
          <a:xfrm>
            <a:off x="6446520" y="1481328"/>
            <a:ext cx="5257800" cy="2953512"/>
          </a:xfrm>
          <a:prstGeom prst="rect">
            <a:avLst/>
          </a:prstGeom>
        </p:spPr>
      </p:pic>
      <p:sp>
        <p:nvSpPr>
          <p:cNvPr id="6" name="Text 3"/>
          <p:cNvSpPr/>
          <p:nvPr/>
        </p:nvSpPr>
        <p:spPr>
          <a:xfrm>
            <a:off x="685800" y="1508760"/>
            <a:ext cx="5303520" cy="1371600"/>
          </a:xfrm>
          <a:prstGeom prst="rect">
            <a:avLst/>
          </a:prstGeom>
          <a:noFill/>
          <a:ln/>
        </p:spPr>
        <p:txBody>
          <a:bodyPr wrap="square" lIns="0" tIns="0" rIns="0" bIns="0" rtlCol="0" anchor="ctr">
            <a:normAutofit/>
          </a:bodyPr>
          <a:lstStyle/>
          <a:p>
            <a:pPr marL="0" indent="0">
              <a:buNone/>
            </a:pPr>
            <a:r>
              <a:rPr lang="en-US" sz="3000" b="1" dirty="0">
                <a:solidFill>
                  <a:srgbClr val="173236"/>
                </a:solidFill>
                <a:latin typeface="Aptos Display" pitchFamily="34" charset="0"/>
                <a:ea typeface="Aptos Display" pitchFamily="34" charset="-122"/>
                <a:cs typeface="Aptos Display" pitchFamily="34" charset="-120"/>
              </a:rPr>
              <a:t>New country. New school. New systems.</a:t>
            </a:r>
            <a:endParaRPr lang="en-US" sz="3000" dirty="0"/>
          </a:p>
        </p:txBody>
      </p:sp>
      <p:sp>
        <p:nvSpPr>
          <p:cNvPr id="7" name="Text 4"/>
          <p:cNvSpPr/>
          <p:nvPr/>
        </p:nvSpPr>
        <p:spPr>
          <a:xfrm>
            <a:off x="713232" y="3063240"/>
            <a:ext cx="5120640" cy="320040"/>
          </a:xfrm>
          <a:prstGeom prst="rect">
            <a:avLst/>
          </a:prstGeom>
          <a:noFill/>
          <a:ln/>
        </p:spPr>
        <p:txBody>
          <a:bodyPr wrap="square" lIns="0" tIns="0" rIns="0" bIns="0" rtlCol="0" anchor="ctr"/>
          <a:lstStyle/>
          <a:p>
            <a:pPr marL="0" indent="0">
              <a:buNone/>
            </a:pPr>
            <a:r>
              <a:rPr lang="en-US" sz="1400" dirty="0">
                <a:solidFill>
                  <a:srgbClr val="5B6B70"/>
                </a:solidFill>
              </a:rPr>
              <a:t>For new international THUAS students, everyday study tasks can become barriers:</a:t>
            </a:r>
            <a:endParaRPr lang="en-US" sz="1400" dirty="0"/>
          </a:p>
        </p:txBody>
      </p:sp>
      <p:sp>
        <p:nvSpPr>
          <p:cNvPr id="8" name="Text 5"/>
          <p:cNvSpPr/>
          <p:nvPr/>
        </p:nvSpPr>
        <p:spPr>
          <a:xfrm>
            <a:off x="804672" y="3703320"/>
            <a:ext cx="5029200" cy="457200"/>
          </a:xfrm>
          <a:prstGeom prst="rect">
            <a:avLst/>
          </a:prstGeom>
          <a:noFill/>
          <a:ln/>
        </p:spPr>
        <p:txBody>
          <a:bodyPr wrap="square" lIns="0" tIns="0" rIns="0" bIns="0" rtlCol="0" anchor="t">
            <a:normAutofit/>
          </a:bodyPr>
          <a:lstStyle/>
          <a:p>
            <a:pPr marL="0" indent="0">
              <a:buNone/>
            </a:pPr>
            <a:r>
              <a:rPr lang="en-US" sz="1400" b="1" dirty="0">
                <a:solidFill>
                  <a:srgbClr val="0E6B66"/>
                </a:solidFill>
              </a:rPr>
              <a:t>• </a:t>
            </a:r>
            <a:r>
              <a:rPr lang="en-US" sz="1400" dirty="0">
                <a:solidFill>
                  <a:srgbClr val="173236"/>
                </a:solidFill>
              </a:rPr>
              <a:t>Finding course material on Brightspace</a:t>
            </a:r>
            <a:endParaRPr lang="en-US" sz="1400" dirty="0"/>
          </a:p>
        </p:txBody>
      </p:sp>
      <p:sp>
        <p:nvSpPr>
          <p:cNvPr id="9" name="Text 6"/>
          <p:cNvSpPr/>
          <p:nvPr/>
        </p:nvSpPr>
        <p:spPr>
          <a:xfrm>
            <a:off x="804672" y="4343400"/>
            <a:ext cx="5212080" cy="457200"/>
          </a:xfrm>
          <a:prstGeom prst="rect">
            <a:avLst/>
          </a:prstGeom>
          <a:noFill/>
          <a:ln/>
        </p:spPr>
        <p:txBody>
          <a:bodyPr wrap="square" lIns="0" tIns="0" rIns="0" bIns="0" rtlCol="0" anchor="t">
            <a:normAutofit/>
          </a:bodyPr>
          <a:lstStyle/>
          <a:p>
            <a:pPr marL="0" indent="0">
              <a:buNone/>
            </a:pPr>
            <a:r>
              <a:rPr lang="en-US" sz="1400" b="1" dirty="0">
                <a:solidFill>
                  <a:srgbClr val="0E6B66"/>
                </a:solidFill>
              </a:rPr>
              <a:t>• </a:t>
            </a:r>
            <a:r>
              <a:rPr lang="en-US" sz="1400" dirty="0">
                <a:solidFill>
                  <a:srgbClr val="173236"/>
                </a:solidFill>
              </a:rPr>
              <a:t>Understanding MyTimeTable, rooms and campus locations</a:t>
            </a:r>
            <a:endParaRPr lang="en-US" sz="1400" dirty="0"/>
          </a:p>
        </p:txBody>
      </p:sp>
      <p:sp>
        <p:nvSpPr>
          <p:cNvPr id="10" name="Text 7"/>
          <p:cNvSpPr/>
          <p:nvPr/>
        </p:nvSpPr>
        <p:spPr>
          <a:xfrm>
            <a:off x="804672" y="4983480"/>
            <a:ext cx="5029200" cy="457200"/>
          </a:xfrm>
          <a:prstGeom prst="rect">
            <a:avLst/>
          </a:prstGeom>
          <a:noFill/>
          <a:ln/>
        </p:spPr>
        <p:txBody>
          <a:bodyPr wrap="square" lIns="0" tIns="0" rIns="0" bIns="0" rtlCol="0" anchor="t">
            <a:normAutofit/>
          </a:bodyPr>
          <a:lstStyle/>
          <a:p>
            <a:pPr marL="0" indent="0">
              <a:buNone/>
            </a:pPr>
            <a:r>
              <a:rPr lang="en-US" sz="1400" b="1" dirty="0">
                <a:solidFill>
                  <a:srgbClr val="0E6B66"/>
                </a:solidFill>
              </a:rPr>
              <a:t>• </a:t>
            </a:r>
            <a:r>
              <a:rPr lang="en-US" sz="1400" dirty="0">
                <a:solidFill>
                  <a:srgbClr val="173236"/>
                </a:solidFill>
              </a:rPr>
              <a:t>Knowing who to ask when they feel unsure</a:t>
            </a:r>
            <a:endParaRPr lang="en-US" sz="1400" dirty="0"/>
          </a:p>
        </p:txBody>
      </p:sp>
      <p:sp>
        <p:nvSpPr>
          <p:cNvPr id="11" name="Text 8"/>
          <p:cNvSpPr/>
          <p:nvPr/>
        </p:nvSpPr>
        <p:spPr>
          <a:xfrm>
            <a:off x="502920" y="6565392"/>
            <a:ext cx="4114800" cy="164592"/>
          </a:xfrm>
          <a:prstGeom prst="rect">
            <a:avLst/>
          </a:prstGeom>
          <a:noFill/>
          <a:ln/>
        </p:spPr>
        <p:txBody>
          <a:bodyPr wrap="square" lIns="0" tIns="0" rIns="0" bIns="0" rtlCol="0" anchor="ctr"/>
          <a:lstStyle/>
          <a:p>
            <a:pPr marL="0" indent="0">
              <a:buNone/>
            </a:pPr>
            <a:r>
              <a:rPr lang="en-US" sz="780" dirty="0">
                <a:solidFill>
                  <a:srgbClr val="829294"/>
                </a:solidFill>
              </a:rPr>
              <a:t>STUDYSTART · AI for Good Hackathon 1</a:t>
            </a:r>
            <a:endParaRPr lang="en-US" sz="780" dirty="0"/>
          </a:p>
        </p:txBody>
      </p:sp>
      <p:sp>
        <p:nvSpPr>
          <p:cNvPr id="12" name="Text 9"/>
          <p:cNvSpPr/>
          <p:nvPr/>
        </p:nvSpPr>
        <p:spPr>
          <a:xfrm>
            <a:off x="11292840" y="6510528"/>
            <a:ext cx="411480" cy="219456"/>
          </a:xfrm>
          <a:prstGeom prst="rect">
            <a:avLst/>
          </a:prstGeom>
          <a:noFill/>
          <a:ln/>
        </p:spPr>
        <p:txBody>
          <a:bodyPr wrap="square" lIns="0" tIns="0" rIns="0" bIns="0" rtlCol="0" anchor="ctr"/>
          <a:lstStyle/>
          <a:p>
            <a:pPr marL="0" indent="0" algn="r">
              <a:buNone/>
            </a:pPr>
            <a:r>
              <a:rPr lang="en-US" sz="850" dirty="0">
                <a:solidFill>
                  <a:srgbClr val="829294"/>
                </a:solidFill>
              </a:rPr>
              <a:t>02</a:t>
            </a:r>
            <a:endParaRPr lang="en-US" sz="85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502920" y="292608"/>
            <a:ext cx="7132320" cy="411480"/>
          </a:xfrm>
          <a:prstGeom prst="rect">
            <a:avLst/>
          </a:prstGeom>
          <a:noFill/>
          <a:ln/>
        </p:spPr>
        <p:txBody>
          <a:bodyPr wrap="square" lIns="0" tIns="0" rIns="0" bIns="0" rtlCol="0" anchor="ctr"/>
          <a:lstStyle/>
          <a:p>
            <a:pPr marL="0" indent="0">
              <a:buNone/>
            </a:pPr>
            <a:r>
              <a:rPr lang="en-US" sz="2400" b="1" dirty="0">
                <a:solidFill>
                  <a:srgbClr val="173236"/>
                </a:solidFill>
                <a:latin typeface="Aptos Display" pitchFamily="34" charset="0"/>
                <a:ea typeface="Aptos Display" pitchFamily="34" charset="-122"/>
                <a:cs typeface="Aptos Display" pitchFamily="34" charset="-120"/>
              </a:rPr>
              <a:t>Target user</a:t>
            </a:r>
            <a:endParaRPr lang="en-US" sz="2400" dirty="0"/>
          </a:p>
        </p:txBody>
      </p:sp>
      <p:sp>
        <p:nvSpPr>
          <p:cNvPr id="3" name="Text 1"/>
          <p:cNvSpPr/>
          <p:nvPr/>
        </p:nvSpPr>
        <p:spPr>
          <a:xfrm>
            <a:off x="530352" y="749808"/>
            <a:ext cx="8412480" cy="292608"/>
          </a:xfrm>
          <a:prstGeom prst="rect">
            <a:avLst/>
          </a:prstGeom>
          <a:noFill/>
          <a:ln/>
        </p:spPr>
        <p:txBody>
          <a:bodyPr wrap="square" lIns="0" tIns="0" rIns="0" bIns="0" rtlCol="0" anchor="ctr"/>
          <a:lstStyle/>
          <a:p>
            <a:pPr marL="0" indent="0">
              <a:buNone/>
            </a:pPr>
            <a:r>
              <a:rPr lang="en-US" sz="1050" dirty="0">
                <a:solidFill>
                  <a:srgbClr val="5B6B70"/>
                </a:solidFill>
              </a:rPr>
              <a:t>Specific user group, with clear limits.</a:t>
            </a:r>
            <a:endParaRPr lang="en-US" sz="1050" dirty="0"/>
          </a:p>
        </p:txBody>
      </p:sp>
      <p:sp>
        <p:nvSpPr>
          <p:cNvPr id="4" name="Shape 2"/>
          <p:cNvSpPr/>
          <p:nvPr/>
        </p:nvSpPr>
        <p:spPr>
          <a:xfrm>
            <a:off x="512064" y="1133856"/>
            <a:ext cx="1828800" cy="0"/>
          </a:xfrm>
          <a:prstGeom prst="line">
            <a:avLst/>
          </a:prstGeom>
          <a:noFill/>
          <a:ln w="25400">
            <a:solidFill>
              <a:srgbClr val="0E6B66"/>
            </a:solidFill>
            <a:prstDash val="solid"/>
          </a:ln>
        </p:spPr>
        <p:txBody>
          <a:bodyPr/>
          <a:lstStyle/>
          <a:p>
            <a:endParaRPr lang="nl-NL"/>
          </a:p>
        </p:txBody>
      </p:sp>
      <p:pic>
        <p:nvPicPr>
          <p:cNvPr id="5" name="Image 0" descr="/mnt/data/a_wide_cinematic_photorealistic_scene_of_a_moder.png"/>
          <p:cNvPicPr>
            <a:picLocks noChangeAspect="1"/>
          </p:cNvPicPr>
          <p:nvPr/>
        </p:nvPicPr>
        <p:blipFill>
          <a:blip r:embed="rId3"/>
          <a:stretch>
            <a:fillRect/>
          </a:stretch>
        </p:blipFill>
        <p:spPr>
          <a:xfrm>
            <a:off x="594360" y="1463040"/>
            <a:ext cx="5074920" cy="2852928"/>
          </a:xfrm>
          <a:prstGeom prst="rect">
            <a:avLst/>
          </a:prstGeom>
        </p:spPr>
      </p:pic>
      <p:sp>
        <p:nvSpPr>
          <p:cNvPr id="6" name="Text 3"/>
          <p:cNvSpPr/>
          <p:nvPr/>
        </p:nvSpPr>
        <p:spPr>
          <a:xfrm>
            <a:off x="5989320" y="1371600"/>
            <a:ext cx="5212080" cy="274320"/>
          </a:xfrm>
          <a:prstGeom prst="rect">
            <a:avLst/>
          </a:prstGeom>
          <a:noFill/>
          <a:ln/>
        </p:spPr>
        <p:txBody>
          <a:bodyPr wrap="square" lIns="0" tIns="0" rIns="0" bIns="0" rtlCol="0" anchor="ctr"/>
          <a:lstStyle/>
          <a:p>
            <a:pPr marL="0" indent="0">
              <a:buNone/>
            </a:pPr>
            <a:r>
              <a:rPr lang="en-US" sz="1500" b="1" dirty="0">
                <a:solidFill>
                  <a:srgbClr val="0E6B66"/>
                </a:solidFill>
              </a:rPr>
              <a:t>Designed for</a:t>
            </a:r>
            <a:endParaRPr lang="en-US" sz="1500" dirty="0"/>
          </a:p>
        </p:txBody>
      </p:sp>
      <p:sp>
        <p:nvSpPr>
          <p:cNvPr id="7" name="Text 4"/>
          <p:cNvSpPr/>
          <p:nvPr/>
        </p:nvSpPr>
        <p:spPr>
          <a:xfrm>
            <a:off x="5989320" y="1719072"/>
            <a:ext cx="5074920" cy="822960"/>
          </a:xfrm>
          <a:prstGeom prst="rect">
            <a:avLst/>
          </a:prstGeom>
          <a:noFill/>
          <a:ln/>
        </p:spPr>
        <p:txBody>
          <a:bodyPr wrap="square" lIns="0" tIns="0" rIns="0" bIns="0" rtlCol="0" anchor="ctr">
            <a:normAutofit fontScale="92500" lnSpcReduction="20000"/>
          </a:bodyPr>
          <a:lstStyle/>
          <a:p>
            <a:pPr marL="0" indent="0">
              <a:buNone/>
            </a:pPr>
            <a:r>
              <a:rPr lang="en-US" sz="2200" b="1" dirty="0">
                <a:solidFill>
                  <a:srgbClr val="173236"/>
                </a:solidFill>
              </a:rPr>
              <a:t>New international students at THUAS who need extra support understanding how studying here works.</a:t>
            </a:r>
            <a:endParaRPr lang="en-US" sz="2200" dirty="0"/>
          </a:p>
        </p:txBody>
      </p:sp>
      <p:sp>
        <p:nvSpPr>
          <p:cNvPr id="8" name="Text 5"/>
          <p:cNvSpPr/>
          <p:nvPr/>
        </p:nvSpPr>
        <p:spPr>
          <a:xfrm>
            <a:off x="6080760" y="3017520"/>
            <a:ext cx="4754880" cy="457200"/>
          </a:xfrm>
          <a:prstGeom prst="rect">
            <a:avLst/>
          </a:prstGeom>
          <a:noFill/>
          <a:ln/>
        </p:spPr>
        <p:txBody>
          <a:bodyPr wrap="square" lIns="0" tIns="0" rIns="0" bIns="0" rtlCol="0" anchor="t">
            <a:normAutofit/>
          </a:bodyPr>
          <a:lstStyle/>
          <a:p>
            <a:pPr marL="0" indent="0">
              <a:buNone/>
            </a:pPr>
            <a:r>
              <a:rPr lang="en-US" sz="1300" b="1" dirty="0">
                <a:solidFill>
                  <a:srgbClr val="0E6B66"/>
                </a:solidFill>
              </a:rPr>
              <a:t>• </a:t>
            </a:r>
            <a:r>
              <a:rPr lang="en-US" sz="1300" dirty="0">
                <a:solidFill>
                  <a:srgbClr val="173236"/>
                </a:solidFill>
              </a:rPr>
              <a:t>Unfamiliar with Dutch HBO / ECTS / resits</a:t>
            </a:r>
            <a:endParaRPr lang="en-US" sz="1300" dirty="0"/>
          </a:p>
        </p:txBody>
      </p:sp>
      <p:sp>
        <p:nvSpPr>
          <p:cNvPr id="9" name="Text 6"/>
          <p:cNvSpPr/>
          <p:nvPr/>
        </p:nvSpPr>
        <p:spPr>
          <a:xfrm>
            <a:off x="6080760" y="3566160"/>
            <a:ext cx="4754880" cy="457200"/>
          </a:xfrm>
          <a:prstGeom prst="rect">
            <a:avLst/>
          </a:prstGeom>
          <a:noFill/>
          <a:ln/>
        </p:spPr>
        <p:txBody>
          <a:bodyPr wrap="square" lIns="0" tIns="0" rIns="0" bIns="0" rtlCol="0" anchor="t">
            <a:normAutofit/>
          </a:bodyPr>
          <a:lstStyle/>
          <a:p>
            <a:pPr marL="0" indent="0">
              <a:buNone/>
            </a:pPr>
            <a:r>
              <a:rPr lang="en-US" sz="1300" b="1" dirty="0">
                <a:solidFill>
                  <a:srgbClr val="0E6B66"/>
                </a:solidFill>
              </a:rPr>
              <a:t>• </a:t>
            </a:r>
            <a:r>
              <a:rPr lang="en-US" sz="1300" dirty="0">
                <a:solidFill>
                  <a:srgbClr val="173236"/>
                </a:solidFill>
              </a:rPr>
              <a:t>Unsure how to use Brightspace, OSIRIS and MyTimeTable</a:t>
            </a:r>
            <a:endParaRPr lang="en-US" sz="1300" dirty="0"/>
          </a:p>
        </p:txBody>
      </p:sp>
      <p:sp>
        <p:nvSpPr>
          <p:cNvPr id="10" name="Text 7"/>
          <p:cNvSpPr/>
          <p:nvPr/>
        </p:nvSpPr>
        <p:spPr>
          <a:xfrm>
            <a:off x="6080760" y="4114800"/>
            <a:ext cx="4754880" cy="457200"/>
          </a:xfrm>
          <a:prstGeom prst="rect">
            <a:avLst/>
          </a:prstGeom>
          <a:noFill/>
          <a:ln/>
        </p:spPr>
        <p:txBody>
          <a:bodyPr wrap="square" lIns="0" tIns="0" rIns="0" bIns="0" rtlCol="0" anchor="t">
            <a:normAutofit/>
          </a:bodyPr>
          <a:lstStyle/>
          <a:p>
            <a:pPr marL="0" indent="0">
              <a:buNone/>
            </a:pPr>
            <a:r>
              <a:rPr lang="en-US" sz="1300" b="1" dirty="0">
                <a:solidFill>
                  <a:srgbClr val="0E6B66"/>
                </a:solidFill>
              </a:rPr>
              <a:t>• </a:t>
            </a:r>
            <a:r>
              <a:rPr lang="en-US" sz="1300" dirty="0">
                <a:solidFill>
                  <a:srgbClr val="173236"/>
                </a:solidFill>
              </a:rPr>
              <a:t>May hesitate to ask for help directly</a:t>
            </a:r>
            <a:endParaRPr lang="en-US" sz="1300" dirty="0"/>
          </a:p>
        </p:txBody>
      </p:sp>
      <p:sp>
        <p:nvSpPr>
          <p:cNvPr id="13" name="Text 10"/>
          <p:cNvSpPr/>
          <p:nvPr/>
        </p:nvSpPr>
        <p:spPr>
          <a:xfrm>
            <a:off x="502920" y="6565392"/>
            <a:ext cx="4114800" cy="164592"/>
          </a:xfrm>
          <a:prstGeom prst="rect">
            <a:avLst/>
          </a:prstGeom>
          <a:noFill/>
          <a:ln/>
        </p:spPr>
        <p:txBody>
          <a:bodyPr wrap="square" lIns="0" tIns="0" rIns="0" bIns="0" rtlCol="0" anchor="ctr"/>
          <a:lstStyle/>
          <a:p>
            <a:pPr marL="0" indent="0">
              <a:buNone/>
            </a:pPr>
            <a:r>
              <a:rPr lang="en-US" sz="780" dirty="0">
                <a:solidFill>
                  <a:srgbClr val="829294"/>
                </a:solidFill>
              </a:rPr>
              <a:t>STUDYSTART · AI for Good Hackathon 1</a:t>
            </a:r>
            <a:endParaRPr lang="en-US" sz="780" dirty="0"/>
          </a:p>
        </p:txBody>
      </p:sp>
      <p:sp>
        <p:nvSpPr>
          <p:cNvPr id="14" name="Text 11"/>
          <p:cNvSpPr/>
          <p:nvPr/>
        </p:nvSpPr>
        <p:spPr>
          <a:xfrm>
            <a:off x="11292840" y="6510528"/>
            <a:ext cx="411480" cy="219456"/>
          </a:xfrm>
          <a:prstGeom prst="rect">
            <a:avLst/>
          </a:prstGeom>
          <a:noFill/>
          <a:ln/>
        </p:spPr>
        <p:txBody>
          <a:bodyPr wrap="square" lIns="0" tIns="0" rIns="0" bIns="0" rtlCol="0" anchor="ctr"/>
          <a:lstStyle/>
          <a:p>
            <a:pPr marL="0" indent="0" algn="r">
              <a:buNone/>
            </a:pPr>
            <a:r>
              <a:rPr lang="en-US" sz="850" dirty="0">
                <a:solidFill>
                  <a:srgbClr val="829294"/>
                </a:solidFill>
              </a:rPr>
              <a:t>03</a:t>
            </a:r>
            <a:endParaRPr lang="en-US" sz="85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502920" y="292608"/>
            <a:ext cx="7132320" cy="411480"/>
          </a:xfrm>
          <a:prstGeom prst="rect">
            <a:avLst/>
          </a:prstGeom>
          <a:noFill/>
          <a:ln/>
        </p:spPr>
        <p:txBody>
          <a:bodyPr wrap="square" lIns="0" tIns="0" rIns="0" bIns="0" rtlCol="0" anchor="ctr"/>
          <a:lstStyle/>
          <a:p>
            <a:pPr marL="0" indent="0">
              <a:buNone/>
            </a:pPr>
            <a:r>
              <a:rPr lang="en-US" sz="2400" b="1" dirty="0">
                <a:solidFill>
                  <a:srgbClr val="173236"/>
                </a:solidFill>
                <a:latin typeface="Aptos Display" pitchFamily="34" charset="0"/>
                <a:ea typeface="Aptos Display" pitchFamily="34" charset="-122"/>
                <a:cs typeface="Aptos Display" pitchFamily="34" charset="-120"/>
              </a:rPr>
              <a:t>How </a:t>
            </a:r>
            <a:r>
              <a:rPr lang="en-US" sz="2400" b="1" dirty="0" err="1">
                <a:solidFill>
                  <a:srgbClr val="173236"/>
                </a:solidFill>
                <a:latin typeface="Aptos Display" pitchFamily="34" charset="0"/>
                <a:ea typeface="Aptos Display" pitchFamily="34" charset="-122"/>
                <a:cs typeface="Aptos Display" pitchFamily="34" charset="-120"/>
              </a:rPr>
              <a:t>StudyStart</a:t>
            </a:r>
            <a:r>
              <a:rPr lang="en-US" sz="2400" b="1" dirty="0">
                <a:solidFill>
                  <a:srgbClr val="173236"/>
                </a:solidFill>
                <a:latin typeface="Aptos Display" pitchFamily="34" charset="0"/>
                <a:ea typeface="Aptos Display" pitchFamily="34" charset="-122"/>
                <a:cs typeface="Aptos Display" pitchFamily="34" charset="-120"/>
              </a:rPr>
              <a:t> supports SDG4</a:t>
            </a:r>
            <a:endParaRPr lang="en-US" sz="2400" dirty="0"/>
          </a:p>
        </p:txBody>
      </p:sp>
      <p:sp>
        <p:nvSpPr>
          <p:cNvPr id="3" name="Text 1"/>
          <p:cNvSpPr/>
          <p:nvPr/>
        </p:nvSpPr>
        <p:spPr>
          <a:xfrm>
            <a:off x="530352" y="749808"/>
            <a:ext cx="8412480" cy="292608"/>
          </a:xfrm>
          <a:prstGeom prst="rect">
            <a:avLst/>
          </a:prstGeom>
          <a:noFill/>
          <a:ln/>
        </p:spPr>
        <p:txBody>
          <a:bodyPr wrap="square" lIns="0" tIns="0" rIns="0" bIns="0" rtlCol="0" anchor="ctr"/>
          <a:lstStyle/>
          <a:p>
            <a:pPr marL="0" indent="0">
              <a:buNone/>
            </a:pPr>
            <a:r>
              <a:rPr lang="en-US" sz="1050" dirty="0">
                <a:solidFill>
                  <a:srgbClr val="5B6B70"/>
                </a:solidFill>
              </a:rPr>
              <a:t>Quality Education means more than access to a classroom.</a:t>
            </a:r>
            <a:endParaRPr lang="en-US" sz="1050" dirty="0"/>
          </a:p>
        </p:txBody>
      </p:sp>
      <p:sp>
        <p:nvSpPr>
          <p:cNvPr id="4" name="Shape 2"/>
          <p:cNvSpPr/>
          <p:nvPr/>
        </p:nvSpPr>
        <p:spPr>
          <a:xfrm>
            <a:off x="512064" y="1133856"/>
            <a:ext cx="1828800" cy="0"/>
          </a:xfrm>
          <a:prstGeom prst="line">
            <a:avLst/>
          </a:prstGeom>
          <a:noFill/>
          <a:ln w="25400">
            <a:solidFill>
              <a:srgbClr val="0E6B66"/>
            </a:solidFill>
            <a:prstDash val="solid"/>
          </a:ln>
        </p:spPr>
        <p:txBody>
          <a:bodyPr/>
          <a:lstStyle/>
          <a:p>
            <a:endParaRPr lang="nl-NL"/>
          </a:p>
        </p:txBody>
      </p:sp>
      <p:sp>
        <p:nvSpPr>
          <p:cNvPr id="8" name="Text 6"/>
          <p:cNvSpPr/>
          <p:nvPr/>
        </p:nvSpPr>
        <p:spPr>
          <a:xfrm>
            <a:off x="3749040" y="1508760"/>
            <a:ext cx="7040880" cy="502920"/>
          </a:xfrm>
          <a:prstGeom prst="rect">
            <a:avLst/>
          </a:prstGeom>
          <a:noFill/>
          <a:ln/>
        </p:spPr>
        <p:txBody>
          <a:bodyPr wrap="square" lIns="0" tIns="0" rIns="0" bIns="0" rtlCol="0" anchor="ctr"/>
          <a:lstStyle/>
          <a:p>
            <a:pPr marL="0" indent="0">
              <a:buNone/>
            </a:pPr>
            <a:r>
              <a:rPr lang="en-US" sz="2500" b="1" dirty="0">
                <a:solidFill>
                  <a:srgbClr val="173236"/>
                </a:solidFill>
              </a:rPr>
              <a:t>STUDYSTART reduces informational barriers inside education.</a:t>
            </a:r>
            <a:endParaRPr lang="en-US" sz="2500" dirty="0"/>
          </a:p>
        </p:txBody>
      </p:sp>
      <p:sp>
        <p:nvSpPr>
          <p:cNvPr id="9" name="Shape 7"/>
          <p:cNvSpPr/>
          <p:nvPr/>
        </p:nvSpPr>
        <p:spPr>
          <a:xfrm>
            <a:off x="3749040" y="2423160"/>
            <a:ext cx="2148840" cy="411480"/>
          </a:xfrm>
          <a:prstGeom prst="roundRect">
            <a:avLst>
              <a:gd name="adj" fmla="val 17778"/>
            </a:avLst>
          </a:prstGeom>
          <a:solidFill>
            <a:srgbClr val="DDF3EF"/>
          </a:solidFill>
          <a:ln w="12700">
            <a:solidFill>
              <a:srgbClr val="DDF3EF"/>
            </a:solidFill>
            <a:prstDash val="solid"/>
          </a:ln>
        </p:spPr>
        <p:txBody>
          <a:bodyPr/>
          <a:lstStyle/>
          <a:p>
            <a:endParaRPr lang="nl-NL"/>
          </a:p>
        </p:txBody>
      </p:sp>
      <p:sp>
        <p:nvSpPr>
          <p:cNvPr id="10" name="Text 8"/>
          <p:cNvSpPr/>
          <p:nvPr/>
        </p:nvSpPr>
        <p:spPr>
          <a:xfrm>
            <a:off x="3913632" y="2532888"/>
            <a:ext cx="1783080" cy="146304"/>
          </a:xfrm>
          <a:prstGeom prst="rect">
            <a:avLst/>
          </a:prstGeom>
          <a:noFill/>
          <a:ln/>
        </p:spPr>
        <p:txBody>
          <a:bodyPr wrap="square" lIns="0" tIns="0" rIns="0" bIns="0" rtlCol="0" anchor="ctr"/>
          <a:lstStyle/>
          <a:p>
            <a:pPr marL="0" indent="0" algn="ctr">
              <a:buNone/>
            </a:pPr>
            <a:r>
              <a:rPr lang="en-US" sz="1050" b="1" dirty="0">
                <a:solidFill>
                  <a:srgbClr val="0E6B66"/>
                </a:solidFill>
              </a:rPr>
              <a:t>Inclusive access</a:t>
            </a:r>
            <a:endParaRPr lang="en-US" sz="1050" dirty="0"/>
          </a:p>
        </p:txBody>
      </p:sp>
      <p:sp>
        <p:nvSpPr>
          <p:cNvPr id="11" name="Text 9"/>
          <p:cNvSpPr/>
          <p:nvPr/>
        </p:nvSpPr>
        <p:spPr>
          <a:xfrm>
            <a:off x="6217920" y="2496312"/>
            <a:ext cx="4572000" cy="274320"/>
          </a:xfrm>
          <a:prstGeom prst="rect">
            <a:avLst/>
          </a:prstGeom>
          <a:noFill/>
          <a:ln/>
        </p:spPr>
        <p:txBody>
          <a:bodyPr wrap="square" lIns="0" tIns="0" rIns="0" bIns="0" rtlCol="0" anchor="ctr"/>
          <a:lstStyle/>
          <a:p>
            <a:pPr marL="0" indent="0">
              <a:buNone/>
            </a:pPr>
            <a:r>
              <a:rPr lang="en-US" sz="1350" dirty="0">
                <a:solidFill>
                  <a:srgbClr val="173236"/>
                </a:solidFill>
              </a:rPr>
              <a:t>Students can understand systems before asking someone.</a:t>
            </a:r>
            <a:endParaRPr lang="en-US" sz="1350" dirty="0"/>
          </a:p>
        </p:txBody>
      </p:sp>
      <p:sp>
        <p:nvSpPr>
          <p:cNvPr id="12" name="Shape 10"/>
          <p:cNvSpPr/>
          <p:nvPr/>
        </p:nvSpPr>
        <p:spPr>
          <a:xfrm>
            <a:off x="3749040" y="3383280"/>
            <a:ext cx="2148840" cy="411480"/>
          </a:xfrm>
          <a:prstGeom prst="roundRect">
            <a:avLst>
              <a:gd name="adj" fmla="val 17778"/>
            </a:avLst>
          </a:prstGeom>
          <a:solidFill>
            <a:srgbClr val="FFF0CC"/>
          </a:solidFill>
          <a:ln w="12700">
            <a:solidFill>
              <a:srgbClr val="FFF0CC"/>
            </a:solidFill>
            <a:prstDash val="solid"/>
          </a:ln>
        </p:spPr>
        <p:txBody>
          <a:bodyPr/>
          <a:lstStyle/>
          <a:p>
            <a:endParaRPr lang="nl-NL"/>
          </a:p>
        </p:txBody>
      </p:sp>
      <p:sp>
        <p:nvSpPr>
          <p:cNvPr id="13" name="Text 11"/>
          <p:cNvSpPr/>
          <p:nvPr/>
        </p:nvSpPr>
        <p:spPr>
          <a:xfrm>
            <a:off x="3913632" y="3493008"/>
            <a:ext cx="1783080" cy="146304"/>
          </a:xfrm>
          <a:prstGeom prst="rect">
            <a:avLst/>
          </a:prstGeom>
          <a:noFill/>
          <a:ln/>
        </p:spPr>
        <p:txBody>
          <a:bodyPr wrap="square" lIns="0" tIns="0" rIns="0" bIns="0" rtlCol="0" anchor="ctr"/>
          <a:lstStyle/>
          <a:p>
            <a:pPr marL="0" indent="0" algn="ctr">
              <a:buNone/>
            </a:pPr>
            <a:r>
              <a:rPr lang="en-US" sz="1050" b="1" dirty="0">
                <a:solidFill>
                  <a:srgbClr val="805300"/>
                </a:solidFill>
              </a:rPr>
              <a:t>Learning support</a:t>
            </a:r>
            <a:endParaRPr lang="en-US" sz="1050" dirty="0"/>
          </a:p>
        </p:txBody>
      </p:sp>
      <p:sp>
        <p:nvSpPr>
          <p:cNvPr id="14" name="Text 12"/>
          <p:cNvSpPr/>
          <p:nvPr/>
        </p:nvSpPr>
        <p:spPr>
          <a:xfrm>
            <a:off x="6217920" y="3456432"/>
            <a:ext cx="4572000" cy="274320"/>
          </a:xfrm>
          <a:prstGeom prst="rect">
            <a:avLst/>
          </a:prstGeom>
          <a:noFill/>
          <a:ln/>
        </p:spPr>
        <p:txBody>
          <a:bodyPr wrap="square" lIns="0" tIns="0" rIns="0" bIns="0" rtlCol="0" anchor="ctr"/>
          <a:lstStyle/>
          <a:p>
            <a:pPr marL="0" indent="0">
              <a:buNone/>
            </a:pPr>
            <a:r>
              <a:rPr lang="en-US" sz="1350" dirty="0">
                <a:solidFill>
                  <a:srgbClr val="173236"/>
                </a:solidFill>
              </a:rPr>
              <a:t>Short lessons, examples, quizzes and feedback.</a:t>
            </a:r>
            <a:endParaRPr lang="en-US" sz="1350" dirty="0"/>
          </a:p>
        </p:txBody>
      </p:sp>
      <p:sp>
        <p:nvSpPr>
          <p:cNvPr id="15" name="Shape 13"/>
          <p:cNvSpPr/>
          <p:nvPr/>
        </p:nvSpPr>
        <p:spPr>
          <a:xfrm>
            <a:off x="3749040" y="4343400"/>
            <a:ext cx="2148840" cy="411480"/>
          </a:xfrm>
          <a:prstGeom prst="roundRect">
            <a:avLst>
              <a:gd name="adj" fmla="val 17778"/>
            </a:avLst>
          </a:prstGeom>
          <a:solidFill>
            <a:srgbClr val="DDF3EF"/>
          </a:solidFill>
          <a:ln w="12700">
            <a:solidFill>
              <a:srgbClr val="DDF3EF"/>
            </a:solidFill>
            <a:prstDash val="solid"/>
          </a:ln>
        </p:spPr>
        <p:txBody>
          <a:bodyPr/>
          <a:lstStyle/>
          <a:p>
            <a:endParaRPr lang="nl-NL"/>
          </a:p>
        </p:txBody>
      </p:sp>
      <p:sp>
        <p:nvSpPr>
          <p:cNvPr id="16" name="Text 14"/>
          <p:cNvSpPr/>
          <p:nvPr/>
        </p:nvSpPr>
        <p:spPr>
          <a:xfrm>
            <a:off x="3913632" y="4453128"/>
            <a:ext cx="1783080" cy="146304"/>
          </a:xfrm>
          <a:prstGeom prst="rect">
            <a:avLst/>
          </a:prstGeom>
          <a:noFill/>
          <a:ln/>
        </p:spPr>
        <p:txBody>
          <a:bodyPr wrap="square" lIns="0" tIns="0" rIns="0" bIns="0" rtlCol="0" anchor="ctr"/>
          <a:lstStyle/>
          <a:p>
            <a:pPr marL="0" indent="0" algn="ctr">
              <a:buNone/>
            </a:pPr>
            <a:r>
              <a:rPr lang="en-US" sz="1050" b="1" dirty="0">
                <a:solidFill>
                  <a:srgbClr val="0E6B66"/>
                </a:solidFill>
              </a:rPr>
              <a:t>Lifelong learning</a:t>
            </a:r>
            <a:endParaRPr lang="en-US" sz="1050" dirty="0"/>
          </a:p>
        </p:txBody>
      </p:sp>
      <p:sp>
        <p:nvSpPr>
          <p:cNvPr id="17" name="Text 15"/>
          <p:cNvSpPr/>
          <p:nvPr/>
        </p:nvSpPr>
        <p:spPr>
          <a:xfrm>
            <a:off x="6217920" y="4416552"/>
            <a:ext cx="4572000" cy="274320"/>
          </a:xfrm>
          <a:prstGeom prst="rect">
            <a:avLst/>
          </a:prstGeom>
          <a:noFill/>
          <a:ln/>
        </p:spPr>
        <p:txBody>
          <a:bodyPr wrap="square" lIns="0" tIns="0" rIns="0" bIns="0" rtlCol="0" anchor="ctr"/>
          <a:lstStyle/>
          <a:p>
            <a:pPr marL="0" indent="0">
              <a:buNone/>
            </a:pPr>
            <a:r>
              <a:rPr lang="en-US" sz="1350" dirty="0">
                <a:solidFill>
                  <a:srgbClr val="173236"/>
                </a:solidFill>
              </a:rPr>
              <a:t>Practical skill-building for navigating study independently.</a:t>
            </a:r>
            <a:endParaRPr lang="en-US" sz="1350" dirty="0"/>
          </a:p>
        </p:txBody>
      </p:sp>
      <p:sp>
        <p:nvSpPr>
          <p:cNvPr id="19" name="Text 17"/>
          <p:cNvSpPr/>
          <p:nvPr/>
        </p:nvSpPr>
        <p:spPr>
          <a:xfrm>
            <a:off x="502920" y="6565392"/>
            <a:ext cx="4114800" cy="164592"/>
          </a:xfrm>
          <a:prstGeom prst="rect">
            <a:avLst/>
          </a:prstGeom>
          <a:noFill/>
          <a:ln/>
        </p:spPr>
        <p:txBody>
          <a:bodyPr wrap="square" lIns="0" tIns="0" rIns="0" bIns="0" rtlCol="0" anchor="ctr"/>
          <a:lstStyle/>
          <a:p>
            <a:pPr marL="0" indent="0">
              <a:buNone/>
            </a:pPr>
            <a:r>
              <a:rPr lang="en-US" sz="780" dirty="0">
                <a:solidFill>
                  <a:srgbClr val="829294"/>
                </a:solidFill>
              </a:rPr>
              <a:t>STUDYSTART · AI for Good Hackathon 1</a:t>
            </a:r>
            <a:endParaRPr lang="en-US" sz="780" dirty="0"/>
          </a:p>
        </p:txBody>
      </p:sp>
      <p:sp>
        <p:nvSpPr>
          <p:cNvPr id="20" name="Text 18"/>
          <p:cNvSpPr/>
          <p:nvPr/>
        </p:nvSpPr>
        <p:spPr>
          <a:xfrm>
            <a:off x="11292840" y="6510528"/>
            <a:ext cx="411480" cy="219456"/>
          </a:xfrm>
          <a:prstGeom prst="rect">
            <a:avLst/>
          </a:prstGeom>
          <a:noFill/>
          <a:ln/>
        </p:spPr>
        <p:txBody>
          <a:bodyPr wrap="square" lIns="0" tIns="0" rIns="0" bIns="0" rtlCol="0" anchor="ctr"/>
          <a:lstStyle/>
          <a:p>
            <a:pPr marL="0" indent="0" algn="r">
              <a:buNone/>
            </a:pPr>
            <a:r>
              <a:rPr lang="en-US" sz="850" dirty="0">
                <a:solidFill>
                  <a:srgbClr val="829294"/>
                </a:solidFill>
              </a:rPr>
              <a:t>04</a:t>
            </a:r>
            <a:endParaRPr lang="en-US" sz="850" dirty="0"/>
          </a:p>
        </p:txBody>
      </p:sp>
      <p:pic>
        <p:nvPicPr>
          <p:cNvPr id="22" name="Picture 21">
            <a:extLst>
              <a:ext uri="{FF2B5EF4-FFF2-40B4-BE49-F238E27FC236}">
                <a16:creationId xmlns:a16="http://schemas.microsoft.com/office/drawing/2014/main" id="{B20BF112-34AF-2BF8-E262-72A703DBCA41}"/>
              </a:ext>
            </a:extLst>
          </p:cNvPr>
          <p:cNvPicPr>
            <a:picLocks noChangeAspect="1"/>
          </p:cNvPicPr>
          <p:nvPr/>
        </p:nvPicPr>
        <p:blipFill>
          <a:blip r:embed="rId3"/>
          <a:stretch>
            <a:fillRect/>
          </a:stretch>
        </p:blipFill>
        <p:spPr>
          <a:xfrm>
            <a:off x="592026" y="1673540"/>
            <a:ext cx="2669859" cy="266985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502920" y="292608"/>
            <a:ext cx="7132320" cy="411480"/>
          </a:xfrm>
          <a:prstGeom prst="rect">
            <a:avLst/>
          </a:prstGeom>
          <a:noFill/>
          <a:ln/>
        </p:spPr>
        <p:txBody>
          <a:bodyPr wrap="square" lIns="0" tIns="0" rIns="0" bIns="0" rtlCol="0" anchor="ctr"/>
          <a:lstStyle/>
          <a:p>
            <a:pPr marL="0" indent="0">
              <a:buNone/>
            </a:pPr>
            <a:r>
              <a:rPr lang="en-US" sz="2400" b="1" dirty="0">
                <a:solidFill>
                  <a:srgbClr val="173236"/>
                </a:solidFill>
                <a:latin typeface="Aptos Display" pitchFamily="34" charset="0"/>
                <a:ea typeface="Aptos Display" pitchFamily="34" charset="-122"/>
                <a:cs typeface="Aptos Display" pitchFamily="34" charset="-120"/>
              </a:rPr>
              <a:t>What we built</a:t>
            </a:r>
            <a:endParaRPr lang="en-US" sz="2400" dirty="0"/>
          </a:p>
        </p:txBody>
      </p:sp>
      <p:sp>
        <p:nvSpPr>
          <p:cNvPr id="3" name="Text 1"/>
          <p:cNvSpPr/>
          <p:nvPr/>
        </p:nvSpPr>
        <p:spPr>
          <a:xfrm>
            <a:off x="530352" y="749808"/>
            <a:ext cx="8412480" cy="292608"/>
          </a:xfrm>
          <a:prstGeom prst="rect">
            <a:avLst/>
          </a:prstGeom>
          <a:noFill/>
          <a:ln/>
        </p:spPr>
        <p:txBody>
          <a:bodyPr wrap="square" lIns="0" tIns="0" rIns="0" bIns="0" rtlCol="0" anchor="ctr"/>
          <a:lstStyle/>
          <a:p>
            <a:pPr marL="0" indent="0">
              <a:buNone/>
            </a:pPr>
            <a:r>
              <a:rPr lang="en-US" sz="1050" dirty="0">
                <a:solidFill>
                  <a:srgbClr val="5B6B70"/>
                </a:solidFill>
              </a:rPr>
              <a:t>Five focused modules, each teaching one practical part of studying at THUAS.</a:t>
            </a:r>
            <a:endParaRPr lang="en-US" sz="1050" dirty="0"/>
          </a:p>
        </p:txBody>
      </p:sp>
      <p:sp>
        <p:nvSpPr>
          <p:cNvPr id="4" name="Shape 2"/>
          <p:cNvSpPr/>
          <p:nvPr/>
        </p:nvSpPr>
        <p:spPr>
          <a:xfrm>
            <a:off x="512064" y="1133856"/>
            <a:ext cx="1828800" cy="0"/>
          </a:xfrm>
          <a:prstGeom prst="line">
            <a:avLst/>
          </a:prstGeom>
          <a:noFill/>
          <a:ln w="25400">
            <a:solidFill>
              <a:srgbClr val="0E6B66"/>
            </a:solidFill>
            <a:prstDash val="solid"/>
          </a:ln>
        </p:spPr>
        <p:txBody>
          <a:bodyPr/>
          <a:lstStyle/>
          <a:p>
            <a:endParaRPr lang="nl-NL"/>
          </a:p>
        </p:txBody>
      </p:sp>
      <p:sp>
        <p:nvSpPr>
          <p:cNvPr id="5" name="Shape 3"/>
          <p:cNvSpPr/>
          <p:nvPr/>
        </p:nvSpPr>
        <p:spPr>
          <a:xfrm>
            <a:off x="731520" y="1417320"/>
            <a:ext cx="4937760" cy="960120"/>
          </a:xfrm>
          <a:prstGeom prst="roundRect">
            <a:avLst>
              <a:gd name="adj" fmla="val 17143"/>
            </a:avLst>
          </a:prstGeom>
          <a:solidFill>
            <a:srgbClr val="FFFFFF"/>
          </a:solidFill>
          <a:ln w="12700">
            <a:solidFill>
              <a:srgbClr val="DFE7E4"/>
            </a:solidFill>
            <a:prstDash val="solid"/>
          </a:ln>
        </p:spPr>
        <p:txBody>
          <a:bodyPr/>
          <a:lstStyle/>
          <a:p>
            <a:endParaRPr lang="nl-NL"/>
          </a:p>
        </p:txBody>
      </p:sp>
      <p:sp>
        <p:nvSpPr>
          <p:cNvPr id="6" name="Shape 4"/>
          <p:cNvSpPr/>
          <p:nvPr/>
        </p:nvSpPr>
        <p:spPr>
          <a:xfrm>
            <a:off x="987552" y="1673352"/>
            <a:ext cx="457200" cy="457200"/>
          </a:xfrm>
          <a:prstGeom prst="ellipse">
            <a:avLst/>
          </a:prstGeom>
          <a:solidFill>
            <a:srgbClr val="0E6B66"/>
          </a:solidFill>
          <a:ln w="12700">
            <a:solidFill>
              <a:srgbClr val="0E6B66"/>
            </a:solidFill>
            <a:prstDash val="solid"/>
          </a:ln>
        </p:spPr>
        <p:txBody>
          <a:bodyPr/>
          <a:lstStyle/>
          <a:p>
            <a:endParaRPr lang="nl-NL"/>
          </a:p>
        </p:txBody>
      </p:sp>
      <p:sp>
        <p:nvSpPr>
          <p:cNvPr id="7" name="Text 5"/>
          <p:cNvSpPr/>
          <p:nvPr/>
        </p:nvSpPr>
        <p:spPr>
          <a:xfrm>
            <a:off x="987552" y="1764792"/>
            <a:ext cx="457200"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8" name="Text 6"/>
          <p:cNvSpPr/>
          <p:nvPr/>
        </p:nvSpPr>
        <p:spPr>
          <a:xfrm>
            <a:off x="1600200" y="1636776"/>
            <a:ext cx="3474720" cy="228600"/>
          </a:xfrm>
          <a:prstGeom prst="rect">
            <a:avLst/>
          </a:prstGeom>
          <a:noFill/>
          <a:ln/>
        </p:spPr>
        <p:txBody>
          <a:bodyPr wrap="square" lIns="0" tIns="0" rIns="0" bIns="0" rtlCol="0" anchor="ctr"/>
          <a:lstStyle/>
          <a:p>
            <a:pPr marL="0" indent="0">
              <a:buNone/>
            </a:pPr>
            <a:r>
              <a:rPr lang="en-US" sz="1600" b="1" dirty="0">
                <a:solidFill>
                  <a:srgbClr val="173236"/>
                </a:solidFill>
              </a:rPr>
              <a:t>Brightspace</a:t>
            </a:r>
            <a:endParaRPr lang="en-US" sz="1600" dirty="0"/>
          </a:p>
        </p:txBody>
      </p:sp>
      <p:sp>
        <p:nvSpPr>
          <p:cNvPr id="9" name="Text 7"/>
          <p:cNvSpPr/>
          <p:nvPr/>
        </p:nvSpPr>
        <p:spPr>
          <a:xfrm>
            <a:off x="1609344" y="1947672"/>
            <a:ext cx="3657600" cy="228600"/>
          </a:xfrm>
          <a:prstGeom prst="rect">
            <a:avLst/>
          </a:prstGeom>
          <a:noFill/>
          <a:ln/>
        </p:spPr>
        <p:txBody>
          <a:bodyPr wrap="square" lIns="0" tIns="0" rIns="0" bIns="0" rtlCol="0" anchor="ctr"/>
          <a:lstStyle/>
          <a:p>
            <a:pPr marL="0" indent="0">
              <a:buNone/>
            </a:pPr>
            <a:r>
              <a:rPr lang="en-US" sz="1080" dirty="0">
                <a:solidFill>
                  <a:srgbClr val="5B6B70"/>
                </a:solidFill>
              </a:rPr>
              <a:t>Course content, materials, assignments</a:t>
            </a:r>
            <a:endParaRPr lang="en-US" sz="1080" dirty="0"/>
          </a:p>
        </p:txBody>
      </p:sp>
      <p:sp>
        <p:nvSpPr>
          <p:cNvPr id="10" name="Shape 8"/>
          <p:cNvSpPr/>
          <p:nvPr/>
        </p:nvSpPr>
        <p:spPr>
          <a:xfrm>
            <a:off x="6492240" y="1417320"/>
            <a:ext cx="4937760" cy="960120"/>
          </a:xfrm>
          <a:prstGeom prst="roundRect">
            <a:avLst>
              <a:gd name="adj" fmla="val 17143"/>
            </a:avLst>
          </a:prstGeom>
          <a:solidFill>
            <a:srgbClr val="FFFFFF"/>
          </a:solidFill>
          <a:ln w="12700">
            <a:solidFill>
              <a:srgbClr val="DFE7E4"/>
            </a:solidFill>
            <a:prstDash val="solid"/>
          </a:ln>
        </p:spPr>
        <p:txBody>
          <a:bodyPr/>
          <a:lstStyle/>
          <a:p>
            <a:endParaRPr lang="nl-NL"/>
          </a:p>
        </p:txBody>
      </p:sp>
      <p:sp>
        <p:nvSpPr>
          <p:cNvPr id="11" name="Shape 9"/>
          <p:cNvSpPr/>
          <p:nvPr/>
        </p:nvSpPr>
        <p:spPr>
          <a:xfrm>
            <a:off x="6748272" y="1673352"/>
            <a:ext cx="457200" cy="457200"/>
          </a:xfrm>
          <a:prstGeom prst="ellipse">
            <a:avLst/>
          </a:prstGeom>
          <a:solidFill>
            <a:srgbClr val="F2B84B"/>
          </a:solidFill>
          <a:ln w="12700">
            <a:solidFill>
              <a:srgbClr val="F2B84B"/>
            </a:solidFill>
            <a:prstDash val="solid"/>
          </a:ln>
        </p:spPr>
        <p:txBody>
          <a:bodyPr/>
          <a:lstStyle/>
          <a:p>
            <a:endParaRPr lang="nl-NL"/>
          </a:p>
        </p:txBody>
      </p:sp>
      <p:sp>
        <p:nvSpPr>
          <p:cNvPr id="12" name="Text 10"/>
          <p:cNvSpPr/>
          <p:nvPr/>
        </p:nvSpPr>
        <p:spPr>
          <a:xfrm>
            <a:off x="6748272" y="1764792"/>
            <a:ext cx="457200"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3" name="Text 11"/>
          <p:cNvSpPr/>
          <p:nvPr/>
        </p:nvSpPr>
        <p:spPr>
          <a:xfrm>
            <a:off x="7360920" y="1636776"/>
            <a:ext cx="3474720" cy="228600"/>
          </a:xfrm>
          <a:prstGeom prst="rect">
            <a:avLst/>
          </a:prstGeom>
          <a:noFill/>
          <a:ln/>
        </p:spPr>
        <p:txBody>
          <a:bodyPr wrap="square" lIns="0" tIns="0" rIns="0" bIns="0" rtlCol="0" anchor="ctr"/>
          <a:lstStyle/>
          <a:p>
            <a:pPr marL="0" indent="0">
              <a:buNone/>
            </a:pPr>
            <a:r>
              <a:rPr lang="en-US" sz="1600" b="1" dirty="0">
                <a:solidFill>
                  <a:srgbClr val="173236"/>
                </a:solidFill>
              </a:rPr>
              <a:t>MyTimeTable</a:t>
            </a:r>
            <a:endParaRPr lang="en-US" sz="1600" dirty="0"/>
          </a:p>
        </p:txBody>
      </p:sp>
      <p:sp>
        <p:nvSpPr>
          <p:cNvPr id="14" name="Text 12"/>
          <p:cNvSpPr/>
          <p:nvPr/>
        </p:nvSpPr>
        <p:spPr>
          <a:xfrm>
            <a:off x="7370064" y="1947672"/>
            <a:ext cx="3657600" cy="228600"/>
          </a:xfrm>
          <a:prstGeom prst="rect">
            <a:avLst/>
          </a:prstGeom>
          <a:noFill/>
          <a:ln/>
        </p:spPr>
        <p:txBody>
          <a:bodyPr wrap="square" lIns="0" tIns="0" rIns="0" bIns="0" rtlCol="0" anchor="ctr"/>
          <a:lstStyle/>
          <a:p>
            <a:pPr marL="0" indent="0">
              <a:buNone/>
            </a:pPr>
            <a:r>
              <a:rPr lang="en-US" sz="1080" dirty="0">
                <a:solidFill>
                  <a:srgbClr val="5B6B70"/>
                </a:solidFill>
              </a:rPr>
              <a:t>Time, room, campus, changes</a:t>
            </a:r>
            <a:endParaRPr lang="en-US" sz="1080" dirty="0"/>
          </a:p>
        </p:txBody>
      </p:sp>
      <p:sp>
        <p:nvSpPr>
          <p:cNvPr id="15" name="Shape 13"/>
          <p:cNvSpPr/>
          <p:nvPr/>
        </p:nvSpPr>
        <p:spPr>
          <a:xfrm>
            <a:off x="731520" y="2880360"/>
            <a:ext cx="4937760" cy="960120"/>
          </a:xfrm>
          <a:prstGeom prst="roundRect">
            <a:avLst>
              <a:gd name="adj" fmla="val 17143"/>
            </a:avLst>
          </a:prstGeom>
          <a:solidFill>
            <a:srgbClr val="FFFFFF"/>
          </a:solidFill>
          <a:ln w="12700">
            <a:solidFill>
              <a:srgbClr val="DFE7E4"/>
            </a:solidFill>
            <a:prstDash val="solid"/>
          </a:ln>
        </p:spPr>
        <p:txBody>
          <a:bodyPr/>
          <a:lstStyle/>
          <a:p>
            <a:endParaRPr lang="nl-NL"/>
          </a:p>
        </p:txBody>
      </p:sp>
      <p:sp>
        <p:nvSpPr>
          <p:cNvPr id="16" name="Shape 14"/>
          <p:cNvSpPr/>
          <p:nvPr/>
        </p:nvSpPr>
        <p:spPr>
          <a:xfrm>
            <a:off x="987552" y="3136392"/>
            <a:ext cx="457200" cy="457200"/>
          </a:xfrm>
          <a:prstGeom prst="ellipse">
            <a:avLst/>
          </a:prstGeom>
          <a:solidFill>
            <a:srgbClr val="0E6B66"/>
          </a:solidFill>
          <a:ln w="12700">
            <a:solidFill>
              <a:srgbClr val="0E6B66"/>
            </a:solidFill>
            <a:prstDash val="solid"/>
          </a:ln>
        </p:spPr>
        <p:txBody>
          <a:bodyPr/>
          <a:lstStyle/>
          <a:p>
            <a:endParaRPr lang="nl-NL"/>
          </a:p>
        </p:txBody>
      </p:sp>
      <p:sp>
        <p:nvSpPr>
          <p:cNvPr id="17" name="Text 15"/>
          <p:cNvSpPr/>
          <p:nvPr/>
        </p:nvSpPr>
        <p:spPr>
          <a:xfrm>
            <a:off x="987552" y="3227832"/>
            <a:ext cx="457200"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8" name="Text 16"/>
          <p:cNvSpPr/>
          <p:nvPr/>
        </p:nvSpPr>
        <p:spPr>
          <a:xfrm>
            <a:off x="1600200" y="3099816"/>
            <a:ext cx="3474720" cy="228600"/>
          </a:xfrm>
          <a:prstGeom prst="rect">
            <a:avLst/>
          </a:prstGeom>
          <a:noFill/>
          <a:ln/>
        </p:spPr>
        <p:txBody>
          <a:bodyPr wrap="square" lIns="0" tIns="0" rIns="0" bIns="0" rtlCol="0" anchor="ctr"/>
          <a:lstStyle/>
          <a:p>
            <a:pPr marL="0" indent="0">
              <a:buNone/>
            </a:pPr>
            <a:r>
              <a:rPr lang="en-US" sz="1600" b="1" dirty="0">
                <a:solidFill>
                  <a:srgbClr val="173236"/>
                </a:solidFill>
              </a:rPr>
              <a:t>Studying in NL</a:t>
            </a:r>
            <a:endParaRPr lang="en-US" sz="1600" dirty="0"/>
          </a:p>
        </p:txBody>
      </p:sp>
      <p:sp>
        <p:nvSpPr>
          <p:cNvPr id="19" name="Text 17"/>
          <p:cNvSpPr/>
          <p:nvPr/>
        </p:nvSpPr>
        <p:spPr>
          <a:xfrm>
            <a:off x="1609344" y="3410712"/>
            <a:ext cx="3657600" cy="228600"/>
          </a:xfrm>
          <a:prstGeom prst="rect">
            <a:avLst/>
          </a:prstGeom>
          <a:noFill/>
          <a:ln/>
        </p:spPr>
        <p:txBody>
          <a:bodyPr wrap="square" lIns="0" tIns="0" rIns="0" bIns="0" rtlCol="0" anchor="ctr"/>
          <a:lstStyle/>
          <a:p>
            <a:pPr marL="0" indent="0">
              <a:buNone/>
            </a:pPr>
            <a:r>
              <a:rPr lang="en-US" sz="1080" dirty="0">
                <a:solidFill>
                  <a:srgbClr val="5B6B70"/>
                </a:solidFill>
              </a:rPr>
              <a:t>HBO, ECTS, independent study</a:t>
            </a:r>
            <a:endParaRPr lang="en-US" sz="1080" dirty="0"/>
          </a:p>
        </p:txBody>
      </p:sp>
      <p:sp>
        <p:nvSpPr>
          <p:cNvPr id="20" name="Shape 18"/>
          <p:cNvSpPr/>
          <p:nvPr/>
        </p:nvSpPr>
        <p:spPr>
          <a:xfrm>
            <a:off x="6492240" y="2880360"/>
            <a:ext cx="4937760" cy="960120"/>
          </a:xfrm>
          <a:prstGeom prst="roundRect">
            <a:avLst>
              <a:gd name="adj" fmla="val 17143"/>
            </a:avLst>
          </a:prstGeom>
          <a:solidFill>
            <a:srgbClr val="FFFFFF"/>
          </a:solidFill>
          <a:ln w="12700">
            <a:solidFill>
              <a:srgbClr val="DFE7E4"/>
            </a:solidFill>
            <a:prstDash val="solid"/>
          </a:ln>
        </p:spPr>
        <p:txBody>
          <a:bodyPr/>
          <a:lstStyle/>
          <a:p>
            <a:endParaRPr lang="nl-NL"/>
          </a:p>
        </p:txBody>
      </p:sp>
      <p:sp>
        <p:nvSpPr>
          <p:cNvPr id="21" name="Shape 19"/>
          <p:cNvSpPr/>
          <p:nvPr/>
        </p:nvSpPr>
        <p:spPr>
          <a:xfrm>
            <a:off x="6748272" y="3136392"/>
            <a:ext cx="457200" cy="457200"/>
          </a:xfrm>
          <a:prstGeom prst="ellipse">
            <a:avLst/>
          </a:prstGeom>
          <a:solidFill>
            <a:srgbClr val="F2B84B"/>
          </a:solidFill>
          <a:ln w="12700">
            <a:solidFill>
              <a:srgbClr val="F2B84B"/>
            </a:solidFill>
            <a:prstDash val="solid"/>
          </a:ln>
        </p:spPr>
        <p:txBody>
          <a:bodyPr/>
          <a:lstStyle/>
          <a:p>
            <a:endParaRPr lang="nl-NL"/>
          </a:p>
        </p:txBody>
      </p:sp>
      <p:sp>
        <p:nvSpPr>
          <p:cNvPr id="22" name="Text 20"/>
          <p:cNvSpPr/>
          <p:nvPr/>
        </p:nvSpPr>
        <p:spPr>
          <a:xfrm>
            <a:off x="6748272" y="3227832"/>
            <a:ext cx="457200"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3" name="Text 21"/>
          <p:cNvSpPr/>
          <p:nvPr/>
        </p:nvSpPr>
        <p:spPr>
          <a:xfrm>
            <a:off x="7360920" y="3099816"/>
            <a:ext cx="3474720" cy="228600"/>
          </a:xfrm>
          <a:prstGeom prst="rect">
            <a:avLst/>
          </a:prstGeom>
          <a:noFill/>
          <a:ln/>
        </p:spPr>
        <p:txBody>
          <a:bodyPr wrap="square" lIns="0" tIns="0" rIns="0" bIns="0" rtlCol="0" anchor="ctr"/>
          <a:lstStyle/>
          <a:p>
            <a:pPr marL="0" indent="0">
              <a:buNone/>
            </a:pPr>
            <a:r>
              <a:rPr lang="en-US" sz="1600" b="1" dirty="0">
                <a:solidFill>
                  <a:srgbClr val="173236"/>
                </a:solidFill>
              </a:rPr>
              <a:t>Getting Help</a:t>
            </a:r>
            <a:endParaRPr lang="en-US" sz="1600" dirty="0"/>
          </a:p>
        </p:txBody>
      </p:sp>
      <p:sp>
        <p:nvSpPr>
          <p:cNvPr id="24" name="Text 22"/>
          <p:cNvSpPr/>
          <p:nvPr/>
        </p:nvSpPr>
        <p:spPr>
          <a:xfrm>
            <a:off x="7370064" y="3410712"/>
            <a:ext cx="3657600" cy="228600"/>
          </a:xfrm>
          <a:prstGeom prst="rect">
            <a:avLst/>
          </a:prstGeom>
          <a:noFill/>
          <a:ln/>
        </p:spPr>
        <p:txBody>
          <a:bodyPr wrap="square" lIns="0" tIns="0" rIns="0" bIns="0" rtlCol="0" anchor="ctr"/>
          <a:lstStyle/>
          <a:p>
            <a:pPr marL="0" indent="0">
              <a:buNone/>
            </a:pPr>
            <a:r>
              <a:rPr lang="en-US" sz="1080" dirty="0">
                <a:solidFill>
                  <a:srgbClr val="5B6B70"/>
                </a:solidFill>
              </a:rPr>
              <a:t>Who to contact and how to ask</a:t>
            </a:r>
            <a:endParaRPr lang="en-US" sz="1080" dirty="0"/>
          </a:p>
        </p:txBody>
      </p:sp>
      <p:sp>
        <p:nvSpPr>
          <p:cNvPr id="25" name="Shape 23"/>
          <p:cNvSpPr/>
          <p:nvPr/>
        </p:nvSpPr>
        <p:spPr>
          <a:xfrm>
            <a:off x="3611880" y="4343400"/>
            <a:ext cx="4937760" cy="960120"/>
          </a:xfrm>
          <a:prstGeom prst="roundRect">
            <a:avLst>
              <a:gd name="adj" fmla="val 17143"/>
            </a:avLst>
          </a:prstGeom>
          <a:solidFill>
            <a:srgbClr val="FFFFFF"/>
          </a:solidFill>
          <a:ln w="12700">
            <a:solidFill>
              <a:srgbClr val="DFE7E4"/>
            </a:solidFill>
            <a:prstDash val="solid"/>
          </a:ln>
        </p:spPr>
        <p:txBody>
          <a:bodyPr/>
          <a:lstStyle/>
          <a:p>
            <a:endParaRPr lang="nl-NL"/>
          </a:p>
        </p:txBody>
      </p:sp>
      <p:sp>
        <p:nvSpPr>
          <p:cNvPr id="26" name="Shape 24"/>
          <p:cNvSpPr/>
          <p:nvPr/>
        </p:nvSpPr>
        <p:spPr>
          <a:xfrm>
            <a:off x="3867912" y="4599432"/>
            <a:ext cx="457200" cy="457200"/>
          </a:xfrm>
          <a:prstGeom prst="ellipse">
            <a:avLst/>
          </a:prstGeom>
          <a:solidFill>
            <a:srgbClr val="0E6B66"/>
          </a:solidFill>
          <a:ln w="12700">
            <a:solidFill>
              <a:srgbClr val="0E6B66"/>
            </a:solidFill>
            <a:prstDash val="solid"/>
          </a:ln>
        </p:spPr>
        <p:txBody>
          <a:bodyPr/>
          <a:lstStyle/>
          <a:p>
            <a:endParaRPr lang="nl-NL"/>
          </a:p>
        </p:txBody>
      </p:sp>
      <p:sp>
        <p:nvSpPr>
          <p:cNvPr id="27" name="Text 25"/>
          <p:cNvSpPr/>
          <p:nvPr/>
        </p:nvSpPr>
        <p:spPr>
          <a:xfrm>
            <a:off x="3867912" y="4690872"/>
            <a:ext cx="457200" cy="13716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8" name="Text 26"/>
          <p:cNvSpPr/>
          <p:nvPr/>
        </p:nvSpPr>
        <p:spPr>
          <a:xfrm>
            <a:off x="4480560" y="4562856"/>
            <a:ext cx="3474720" cy="228600"/>
          </a:xfrm>
          <a:prstGeom prst="rect">
            <a:avLst/>
          </a:prstGeom>
          <a:noFill/>
          <a:ln/>
        </p:spPr>
        <p:txBody>
          <a:bodyPr wrap="square" lIns="0" tIns="0" rIns="0" bIns="0" rtlCol="0" anchor="ctr"/>
          <a:lstStyle/>
          <a:p>
            <a:pPr marL="0" indent="0">
              <a:buNone/>
            </a:pPr>
            <a:r>
              <a:rPr lang="en-US" sz="1600" b="1" dirty="0">
                <a:solidFill>
                  <a:srgbClr val="173236"/>
                </a:solidFill>
              </a:rPr>
              <a:t>OSIRIS</a:t>
            </a:r>
            <a:endParaRPr lang="en-US" sz="1600" dirty="0"/>
          </a:p>
        </p:txBody>
      </p:sp>
      <p:sp>
        <p:nvSpPr>
          <p:cNvPr id="29" name="Text 27"/>
          <p:cNvSpPr/>
          <p:nvPr/>
        </p:nvSpPr>
        <p:spPr>
          <a:xfrm>
            <a:off x="4489704" y="4873752"/>
            <a:ext cx="3657600" cy="228600"/>
          </a:xfrm>
          <a:prstGeom prst="rect">
            <a:avLst/>
          </a:prstGeom>
          <a:noFill/>
          <a:ln/>
        </p:spPr>
        <p:txBody>
          <a:bodyPr wrap="square" lIns="0" tIns="0" rIns="0" bIns="0" rtlCol="0" anchor="ctr"/>
          <a:lstStyle/>
          <a:p>
            <a:pPr marL="0" indent="0">
              <a:buNone/>
            </a:pPr>
            <a:r>
              <a:rPr lang="en-US" sz="1080" dirty="0">
                <a:solidFill>
                  <a:srgbClr val="5B6B70"/>
                </a:solidFill>
              </a:rPr>
              <a:t>Grades, progress, exam registration</a:t>
            </a:r>
            <a:endParaRPr lang="en-US" sz="1080" dirty="0"/>
          </a:p>
        </p:txBody>
      </p:sp>
      <p:sp>
        <p:nvSpPr>
          <p:cNvPr id="31" name="Text 29"/>
          <p:cNvSpPr/>
          <p:nvPr/>
        </p:nvSpPr>
        <p:spPr>
          <a:xfrm>
            <a:off x="502920" y="6565392"/>
            <a:ext cx="4114800" cy="164592"/>
          </a:xfrm>
          <a:prstGeom prst="rect">
            <a:avLst/>
          </a:prstGeom>
          <a:noFill/>
          <a:ln/>
        </p:spPr>
        <p:txBody>
          <a:bodyPr wrap="square" lIns="0" tIns="0" rIns="0" bIns="0" rtlCol="0" anchor="ctr"/>
          <a:lstStyle/>
          <a:p>
            <a:pPr marL="0" indent="0">
              <a:buNone/>
            </a:pPr>
            <a:r>
              <a:rPr lang="en-US" sz="780" dirty="0">
                <a:solidFill>
                  <a:srgbClr val="829294"/>
                </a:solidFill>
              </a:rPr>
              <a:t>STUDYSTART · AI for Good Hackathon 1</a:t>
            </a:r>
            <a:endParaRPr lang="en-US" sz="780" dirty="0"/>
          </a:p>
        </p:txBody>
      </p:sp>
      <p:sp>
        <p:nvSpPr>
          <p:cNvPr id="32" name="Text 30"/>
          <p:cNvSpPr/>
          <p:nvPr/>
        </p:nvSpPr>
        <p:spPr>
          <a:xfrm>
            <a:off x="11292840" y="6510528"/>
            <a:ext cx="411480" cy="219456"/>
          </a:xfrm>
          <a:prstGeom prst="rect">
            <a:avLst/>
          </a:prstGeom>
          <a:noFill/>
          <a:ln/>
        </p:spPr>
        <p:txBody>
          <a:bodyPr wrap="square" lIns="0" tIns="0" rIns="0" bIns="0" rtlCol="0" anchor="ctr"/>
          <a:lstStyle/>
          <a:p>
            <a:pPr marL="0" indent="0" algn="r">
              <a:buNone/>
            </a:pPr>
            <a:r>
              <a:rPr lang="en-US" sz="850" dirty="0">
                <a:solidFill>
                  <a:srgbClr val="829294"/>
                </a:solidFill>
              </a:rPr>
              <a:t>05</a:t>
            </a:r>
            <a:endParaRPr lang="en-US" sz="85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502920" y="292608"/>
            <a:ext cx="7132320" cy="411480"/>
          </a:xfrm>
          <a:prstGeom prst="rect">
            <a:avLst/>
          </a:prstGeom>
          <a:noFill/>
          <a:ln/>
        </p:spPr>
        <p:txBody>
          <a:bodyPr wrap="square" lIns="0" tIns="0" rIns="0" bIns="0" rtlCol="0" anchor="ctr"/>
          <a:lstStyle/>
          <a:p>
            <a:pPr marL="0" indent="0">
              <a:buNone/>
            </a:pPr>
            <a:r>
              <a:rPr lang="en-US" sz="2400" b="1" dirty="0">
                <a:solidFill>
                  <a:srgbClr val="173236"/>
                </a:solidFill>
                <a:latin typeface="Aptos Display" pitchFamily="34" charset="0"/>
                <a:ea typeface="Aptos Display" pitchFamily="34" charset="-122"/>
                <a:cs typeface="Aptos Display" pitchFamily="34" charset="-120"/>
              </a:rPr>
              <a:t>Learning flow</a:t>
            </a:r>
            <a:endParaRPr lang="en-US" sz="2400" dirty="0"/>
          </a:p>
        </p:txBody>
      </p:sp>
      <p:sp>
        <p:nvSpPr>
          <p:cNvPr id="3" name="Text 1"/>
          <p:cNvSpPr/>
          <p:nvPr/>
        </p:nvSpPr>
        <p:spPr>
          <a:xfrm>
            <a:off x="530352" y="749808"/>
            <a:ext cx="8412480" cy="292608"/>
          </a:xfrm>
          <a:prstGeom prst="rect">
            <a:avLst/>
          </a:prstGeom>
          <a:noFill/>
          <a:ln/>
        </p:spPr>
        <p:txBody>
          <a:bodyPr wrap="square" lIns="0" tIns="0" rIns="0" bIns="0" rtlCol="0" anchor="ctr"/>
          <a:lstStyle/>
          <a:p>
            <a:pPr marL="0" indent="0">
              <a:buNone/>
            </a:pPr>
            <a:r>
              <a:rPr lang="en-US" sz="1050" dirty="0">
                <a:solidFill>
                  <a:srgbClr val="5B6B70"/>
                </a:solidFill>
              </a:rPr>
              <a:t>Every module follows the same simple pattern.</a:t>
            </a:r>
            <a:endParaRPr lang="en-US" sz="1050" dirty="0"/>
          </a:p>
        </p:txBody>
      </p:sp>
      <p:sp>
        <p:nvSpPr>
          <p:cNvPr id="4" name="Shape 2"/>
          <p:cNvSpPr/>
          <p:nvPr/>
        </p:nvSpPr>
        <p:spPr>
          <a:xfrm>
            <a:off x="512064" y="1133856"/>
            <a:ext cx="1828800" cy="0"/>
          </a:xfrm>
          <a:prstGeom prst="line">
            <a:avLst/>
          </a:prstGeom>
          <a:noFill/>
          <a:ln w="25400">
            <a:solidFill>
              <a:srgbClr val="0E6B66"/>
            </a:solidFill>
            <a:prstDash val="solid"/>
          </a:ln>
        </p:spPr>
        <p:txBody>
          <a:bodyPr/>
          <a:lstStyle/>
          <a:p>
            <a:endParaRPr lang="nl-NL"/>
          </a:p>
        </p:txBody>
      </p:sp>
      <p:pic>
        <p:nvPicPr>
          <p:cNvPr id="5" name="Image 0" descr="/mnt/data/wide_clean_modern_product_hero_style_scene_a_te.png"/>
          <p:cNvPicPr>
            <a:picLocks noChangeAspect="1"/>
          </p:cNvPicPr>
          <p:nvPr/>
        </p:nvPicPr>
        <p:blipFill>
          <a:blip r:embed="rId3"/>
          <a:stretch>
            <a:fillRect/>
          </a:stretch>
        </p:blipFill>
        <p:spPr>
          <a:xfrm>
            <a:off x="6473952" y="1508760"/>
            <a:ext cx="5074920" cy="2852928"/>
          </a:xfrm>
          <a:prstGeom prst="rect">
            <a:avLst/>
          </a:prstGeom>
        </p:spPr>
      </p:pic>
      <p:sp>
        <p:nvSpPr>
          <p:cNvPr id="6" name="Shape 3"/>
          <p:cNvSpPr/>
          <p:nvPr/>
        </p:nvSpPr>
        <p:spPr>
          <a:xfrm>
            <a:off x="777240" y="1453896"/>
            <a:ext cx="411480" cy="411480"/>
          </a:xfrm>
          <a:prstGeom prst="ellipse">
            <a:avLst/>
          </a:prstGeom>
          <a:solidFill>
            <a:srgbClr val="0E6B66"/>
          </a:solidFill>
          <a:ln w="12700">
            <a:solidFill>
              <a:srgbClr val="0E6B66"/>
            </a:solidFill>
            <a:prstDash val="solid"/>
          </a:ln>
        </p:spPr>
        <p:txBody>
          <a:bodyPr/>
          <a:lstStyle/>
          <a:p>
            <a:endParaRPr lang="nl-NL"/>
          </a:p>
        </p:txBody>
      </p:sp>
      <p:sp>
        <p:nvSpPr>
          <p:cNvPr id="7" name="Text 4"/>
          <p:cNvSpPr/>
          <p:nvPr/>
        </p:nvSpPr>
        <p:spPr>
          <a:xfrm>
            <a:off x="777240" y="1572768"/>
            <a:ext cx="411480" cy="109728"/>
          </a:xfrm>
          <a:prstGeom prst="rect">
            <a:avLst/>
          </a:prstGeom>
          <a:noFill/>
          <a:ln/>
        </p:spPr>
        <p:txBody>
          <a:bodyPr wrap="square" lIns="0" tIns="0" rIns="0" bIns="0" rtlCol="0" anchor="ctr"/>
          <a:lstStyle/>
          <a:p>
            <a:pPr marL="0" indent="0" algn="ctr">
              <a:buNone/>
            </a:pPr>
            <a:r>
              <a:rPr lang="en-US" sz="850" b="1" dirty="0">
                <a:solidFill>
                  <a:srgbClr val="FFFFFF"/>
                </a:solidFill>
              </a:rPr>
              <a:t>1</a:t>
            </a:r>
            <a:endParaRPr lang="en-US" sz="850" dirty="0"/>
          </a:p>
        </p:txBody>
      </p:sp>
      <p:sp>
        <p:nvSpPr>
          <p:cNvPr id="8" name="Text 5"/>
          <p:cNvSpPr/>
          <p:nvPr/>
        </p:nvSpPr>
        <p:spPr>
          <a:xfrm>
            <a:off x="1417320" y="1417320"/>
            <a:ext cx="1463040" cy="228600"/>
          </a:xfrm>
          <a:prstGeom prst="rect">
            <a:avLst/>
          </a:prstGeom>
          <a:noFill/>
          <a:ln/>
        </p:spPr>
        <p:txBody>
          <a:bodyPr wrap="square" lIns="0" tIns="0" rIns="0" bIns="0" rtlCol="0" anchor="ctr"/>
          <a:lstStyle/>
          <a:p>
            <a:pPr marL="0" indent="0">
              <a:buNone/>
            </a:pPr>
            <a:r>
              <a:rPr lang="en-US" sz="1500" b="1" dirty="0">
                <a:solidFill>
                  <a:srgbClr val="173236"/>
                </a:solidFill>
              </a:rPr>
              <a:t>Learn</a:t>
            </a:r>
            <a:endParaRPr lang="en-US" sz="1500" dirty="0"/>
          </a:p>
        </p:txBody>
      </p:sp>
      <p:sp>
        <p:nvSpPr>
          <p:cNvPr id="9" name="Text 6"/>
          <p:cNvSpPr/>
          <p:nvPr/>
        </p:nvSpPr>
        <p:spPr>
          <a:xfrm>
            <a:off x="2971800" y="1435608"/>
            <a:ext cx="3017520" cy="201168"/>
          </a:xfrm>
          <a:prstGeom prst="rect">
            <a:avLst/>
          </a:prstGeom>
          <a:noFill/>
          <a:ln/>
        </p:spPr>
        <p:txBody>
          <a:bodyPr wrap="square" lIns="0" tIns="0" rIns="0" bIns="0" rtlCol="0" anchor="ctr"/>
          <a:lstStyle/>
          <a:p>
            <a:pPr marL="0" indent="0">
              <a:buNone/>
            </a:pPr>
            <a:r>
              <a:rPr lang="en-US" sz="1200" dirty="0">
                <a:solidFill>
                  <a:srgbClr val="5B6B70"/>
                </a:solidFill>
              </a:rPr>
              <a:t>Short explanation</a:t>
            </a:r>
            <a:endParaRPr lang="en-US" sz="1200" dirty="0"/>
          </a:p>
        </p:txBody>
      </p:sp>
      <p:sp>
        <p:nvSpPr>
          <p:cNvPr id="10" name="Shape 7"/>
          <p:cNvSpPr/>
          <p:nvPr/>
        </p:nvSpPr>
        <p:spPr>
          <a:xfrm>
            <a:off x="982980" y="1892808"/>
            <a:ext cx="0" cy="292608"/>
          </a:xfrm>
          <a:prstGeom prst="line">
            <a:avLst/>
          </a:prstGeom>
          <a:noFill/>
          <a:ln w="25400">
            <a:solidFill>
              <a:srgbClr val="DFE7E4"/>
            </a:solidFill>
            <a:prstDash val="solid"/>
          </a:ln>
        </p:spPr>
        <p:txBody>
          <a:bodyPr/>
          <a:lstStyle/>
          <a:p>
            <a:endParaRPr lang="nl-NL"/>
          </a:p>
        </p:txBody>
      </p:sp>
      <p:sp>
        <p:nvSpPr>
          <p:cNvPr id="11" name="Shape 8"/>
          <p:cNvSpPr/>
          <p:nvPr/>
        </p:nvSpPr>
        <p:spPr>
          <a:xfrm>
            <a:off x="777240" y="2240280"/>
            <a:ext cx="411480" cy="411480"/>
          </a:xfrm>
          <a:prstGeom prst="ellipse">
            <a:avLst/>
          </a:prstGeom>
          <a:solidFill>
            <a:srgbClr val="F2B84B"/>
          </a:solidFill>
          <a:ln w="12700">
            <a:solidFill>
              <a:srgbClr val="F2B84B"/>
            </a:solidFill>
            <a:prstDash val="solid"/>
          </a:ln>
        </p:spPr>
        <p:txBody>
          <a:bodyPr/>
          <a:lstStyle/>
          <a:p>
            <a:endParaRPr lang="nl-NL"/>
          </a:p>
        </p:txBody>
      </p:sp>
      <p:sp>
        <p:nvSpPr>
          <p:cNvPr id="12" name="Text 9"/>
          <p:cNvSpPr/>
          <p:nvPr/>
        </p:nvSpPr>
        <p:spPr>
          <a:xfrm>
            <a:off x="777240" y="2359152"/>
            <a:ext cx="411480" cy="109728"/>
          </a:xfrm>
          <a:prstGeom prst="rect">
            <a:avLst/>
          </a:prstGeom>
          <a:noFill/>
          <a:ln/>
        </p:spPr>
        <p:txBody>
          <a:bodyPr wrap="square" lIns="0" tIns="0" rIns="0" bIns="0" rtlCol="0" anchor="ctr"/>
          <a:lstStyle/>
          <a:p>
            <a:pPr marL="0" indent="0" algn="ctr">
              <a:buNone/>
            </a:pPr>
            <a:r>
              <a:rPr lang="en-US" sz="850" b="1" dirty="0">
                <a:solidFill>
                  <a:srgbClr val="FFFFFF"/>
                </a:solidFill>
              </a:rPr>
              <a:t>2</a:t>
            </a:r>
            <a:endParaRPr lang="en-US" sz="850" dirty="0"/>
          </a:p>
        </p:txBody>
      </p:sp>
      <p:sp>
        <p:nvSpPr>
          <p:cNvPr id="13" name="Text 10"/>
          <p:cNvSpPr/>
          <p:nvPr/>
        </p:nvSpPr>
        <p:spPr>
          <a:xfrm>
            <a:off x="1417320" y="2203704"/>
            <a:ext cx="1463040" cy="228600"/>
          </a:xfrm>
          <a:prstGeom prst="rect">
            <a:avLst/>
          </a:prstGeom>
          <a:noFill/>
          <a:ln/>
        </p:spPr>
        <p:txBody>
          <a:bodyPr wrap="square" lIns="0" tIns="0" rIns="0" bIns="0" rtlCol="0" anchor="ctr"/>
          <a:lstStyle/>
          <a:p>
            <a:pPr marL="0" indent="0">
              <a:buNone/>
            </a:pPr>
            <a:r>
              <a:rPr lang="en-US" sz="1500" b="1" dirty="0">
                <a:solidFill>
                  <a:srgbClr val="173236"/>
                </a:solidFill>
              </a:rPr>
              <a:t>Video</a:t>
            </a:r>
            <a:endParaRPr lang="en-US" sz="1500" dirty="0"/>
          </a:p>
        </p:txBody>
      </p:sp>
      <p:sp>
        <p:nvSpPr>
          <p:cNvPr id="14" name="Text 11"/>
          <p:cNvSpPr/>
          <p:nvPr/>
        </p:nvSpPr>
        <p:spPr>
          <a:xfrm>
            <a:off x="2971800" y="2221992"/>
            <a:ext cx="3017520" cy="201168"/>
          </a:xfrm>
          <a:prstGeom prst="rect">
            <a:avLst/>
          </a:prstGeom>
          <a:noFill/>
          <a:ln/>
        </p:spPr>
        <p:txBody>
          <a:bodyPr wrap="square" lIns="0" tIns="0" rIns="0" bIns="0" rtlCol="0" anchor="ctr"/>
          <a:lstStyle/>
          <a:p>
            <a:pPr marL="0" indent="0">
              <a:buNone/>
            </a:pPr>
            <a:r>
              <a:rPr lang="en-US" sz="1200" dirty="0">
                <a:solidFill>
                  <a:srgbClr val="5B6B70"/>
                </a:solidFill>
              </a:rPr>
              <a:t>Optional tutorial</a:t>
            </a:r>
            <a:endParaRPr lang="en-US" sz="1200" dirty="0"/>
          </a:p>
        </p:txBody>
      </p:sp>
      <p:sp>
        <p:nvSpPr>
          <p:cNvPr id="15" name="Shape 12"/>
          <p:cNvSpPr/>
          <p:nvPr/>
        </p:nvSpPr>
        <p:spPr>
          <a:xfrm>
            <a:off x="982980" y="2679192"/>
            <a:ext cx="0" cy="292608"/>
          </a:xfrm>
          <a:prstGeom prst="line">
            <a:avLst/>
          </a:prstGeom>
          <a:noFill/>
          <a:ln w="25400">
            <a:solidFill>
              <a:srgbClr val="DFE7E4"/>
            </a:solidFill>
            <a:prstDash val="solid"/>
          </a:ln>
        </p:spPr>
        <p:txBody>
          <a:bodyPr/>
          <a:lstStyle/>
          <a:p>
            <a:endParaRPr lang="nl-NL"/>
          </a:p>
        </p:txBody>
      </p:sp>
      <p:sp>
        <p:nvSpPr>
          <p:cNvPr id="16" name="Shape 13"/>
          <p:cNvSpPr/>
          <p:nvPr/>
        </p:nvSpPr>
        <p:spPr>
          <a:xfrm>
            <a:off x="777240" y="3026664"/>
            <a:ext cx="411480" cy="411480"/>
          </a:xfrm>
          <a:prstGeom prst="ellipse">
            <a:avLst/>
          </a:prstGeom>
          <a:solidFill>
            <a:srgbClr val="0E6B66"/>
          </a:solidFill>
          <a:ln w="12700">
            <a:solidFill>
              <a:srgbClr val="0E6B66"/>
            </a:solidFill>
            <a:prstDash val="solid"/>
          </a:ln>
        </p:spPr>
        <p:txBody>
          <a:bodyPr/>
          <a:lstStyle/>
          <a:p>
            <a:endParaRPr lang="nl-NL"/>
          </a:p>
        </p:txBody>
      </p:sp>
      <p:sp>
        <p:nvSpPr>
          <p:cNvPr id="17" name="Text 14"/>
          <p:cNvSpPr/>
          <p:nvPr/>
        </p:nvSpPr>
        <p:spPr>
          <a:xfrm>
            <a:off x="777240" y="3145536"/>
            <a:ext cx="411480" cy="109728"/>
          </a:xfrm>
          <a:prstGeom prst="rect">
            <a:avLst/>
          </a:prstGeom>
          <a:noFill/>
          <a:ln/>
        </p:spPr>
        <p:txBody>
          <a:bodyPr wrap="square" lIns="0" tIns="0" rIns="0" bIns="0" rtlCol="0" anchor="ctr"/>
          <a:lstStyle/>
          <a:p>
            <a:pPr marL="0" indent="0" algn="ctr">
              <a:buNone/>
            </a:pPr>
            <a:r>
              <a:rPr lang="en-US" sz="850" b="1" dirty="0">
                <a:solidFill>
                  <a:srgbClr val="FFFFFF"/>
                </a:solidFill>
              </a:rPr>
              <a:t>3</a:t>
            </a:r>
            <a:endParaRPr lang="en-US" sz="850" dirty="0"/>
          </a:p>
        </p:txBody>
      </p:sp>
      <p:sp>
        <p:nvSpPr>
          <p:cNvPr id="18" name="Text 15"/>
          <p:cNvSpPr/>
          <p:nvPr/>
        </p:nvSpPr>
        <p:spPr>
          <a:xfrm>
            <a:off x="1417320" y="2990088"/>
            <a:ext cx="1463040" cy="228600"/>
          </a:xfrm>
          <a:prstGeom prst="rect">
            <a:avLst/>
          </a:prstGeom>
          <a:noFill/>
          <a:ln/>
        </p:spPr>
        <p:txBody>
          <a:bodyPr wrap="square" lIns="0" tIns="0" rIns="0" bIns="0" rtlCol="0" anchor="ctr"/>
          <a:lstStyle/>
          <a:p>
            <a:pPr marL="0" indent="0">
              <a:buNone/>
            </a:pPr>
            <a:r>
              <a:rPr lang="en-US" sz="1500" b="1" dirty="0">
                <a:solidFill>
                  <a:srgbClr val="173236"/>
                </a:solidFill>
              </a:rPr>
              <a:t>Example</a:t>
            </a:r>
            <a:endParaRPr lang="en-US" sz="1500" dirty="0"/>
          </a:p>
        </p:txBody>
      </p:sp>
      <p:sp>
        <p:nvSpPr>
          <p:cNvPr id="19" name="Text 16"/>
          <p:cNvSpPr/>
          <p:nvPr/>
        </p:nvSpPr>
        <p:spPr>
          <a:xfrm>
            <a:off x="2971800" y="3008376"/>
            <a:ext cx="3017520" cy="201168"/>
          </a:xfrm>
          <a:prstGeom prst="rect">
            <a:avLst/>
          </a:prstGeom>
          <a:noFill/>
          <a:ln/>
        </p:spPr>
        <p:txBody>
          <a:bodyPr wrap="square" lIns="0" tIns="0" rIns="0" bIns="0" rtlCol="0" anchor="ctr"/>
          <a:lstStyle/>
          <a:p>
            <a:pPr marL="0" indent="0">
              <a:buNone/>
            </a:pPr>
            <a:r>
              <a:rPr lang="en-US" sz="1200" dirty="0">
                <a:solidFill>
                  <a:srgbClr val="5B6B70"/>
                </a:solidFill>
              </a:rPr>
              <a:t>Real student situation</a:t>
            </a:r>
            <a:endParaRPr lang="en-US" sz="1200" dirty="0"/>
          </a:p>
        </p:txBody>
      </p:sp>
      <p:sp>
        <p:nvSpPr>
          <p:cNvPr id="20" name="Shape 17"/>
          <p:cNvSpPr/>
          <p:nvPr/>
        </p:nvSpPr>
        <p:spPr>
          <a:xfrm>
            <a:off x="982980" y="3465576"/>
            <a:ext cx="0" cy="292608"/>
          </a:xfrm>
          <a:prstGeom prst="line">
            <a:avLst/>
          </a:prstGeom>
          <a:noFill/>
          <a:ln w="25400">
            <a:solidFill>
              <a:srgbClr val="DFE7E4"/>
            </a:solidFill>
            <a:prstDash val="solid"/>
          </a:ln>
        </p:spPr>
        <p:txBody>
          <a:bodyPr/>
          <a:lstStyle/>
          <a:p>
            <a:endParaRPr lang="nl-NL"/>
          </a:p>
        </p:txBody>
      </p:sp>
      <p:sp>
        <p:nvSpPr>
          <p:cNvPr id="21" name="Shape 18"/>
          <p:cNvSpPr/>
          <p:nvPr/>
        </p:nvSpPr>
        <p:spPr>
          <a:xfrm>
            <a:off x="777240" y="3813048"/>
            <a:ext cx="411480" cy="411480"/>
          </a:xfrm>
          <a:prstGeom prst="ellipse">
            <a:avLst/>
          </a:prstGeom>
          <a:solidFill>
            <a:srgbClr val="0E6B66"/>
          </a:solidFill>
          <a:ln w="12700">
            <a:solidFill>
              <a:srgbClr val="0E6B66"/>
            </a:solidFill>
            <a:prstDash val="solid"/>
          </a:ln>
        </p:spPr>
        <p:txBody>
          <a:bodyPr/>
          <a:lstStyle/>
          <a:p>
            <a:endParaRPr lang="nl-NL"/>
          </a:p>
        </p:txBody>
      </p:sp>
      <p:sp>
        <p:nvSpPr>
          <p:cNvPr id="22" name="Text 19"/>
          <p:cNvSpPr/>
          <p:nvPr/>
        </p:nvSpPr>
        <p:spPr>
          <a:xfrm>
            <a:off x="777240" y="3931920"/>
            <a:ext cx="411480" cy="109728"/>
          </a:xfrm>
          <a:prstGeom prst="rect">
            <a:avLst/>
          </a:prstGeom>
          <a:noFill/>
          <a:ln/>
        </p:spPr>
        <p:txBody>
          <a:bodyPr wrap="square" lIns="0" tIns="0" rIns="0" bIns="0" rtlCol="0" anchor="ctr"/>
          <a:lstStyle/>
          <a:p>
            <a:pPr marL="0" indent="0" algn="ctr">
              <a:buNone/>
            </a:pPr>
            <a:r>
              <a:rPr lang="en-US" sz="850" b="1" dirty="0">
                <a:solidFill>
                  <a:srgbClr val="FFFFFF"/>
                </a:solidFill>
              </a:rPr>
              <a:t>4</a:t>
            </a:r>
            <a:endParaRPr lang="en-US" sz="850" dirty="0"/>
          </a:p>
        </p:txBody>
      </p:sp>
      <p:sp>
        <p:nvSpPr>
          <p:cNvPr id="23" name="Text 20"/>
          <p:cNvSpPr/>
          <p:nvPr/>
        </p:nvSpPr>
        <p:spPr>
          <a:xfrm>
            <a:off x="1417320" y="3776472"/>
            <a:ext cx="1463040" cy="228600"/>
          </a:xfrm>
          <a:prstGeom prst="rect">
            <a:avLst/>
          </a:prstGeom>
          <a:noFill/>
          <a:ln/>
        </p:spPr>
        <p:txBody>
          <a:bodyPr wrap="square" lIns="0" tIns="0" rIns="0" bIns="0" rtlCol="0" anchor="ctr"/>
          <a:lstStyle/>
          <a:p>
            <a:pPr marL="0" indent="0">
              <a:buNone/>
            </a:pPr>
            <a:r>
              <a:rPr lang="en-US" sz="1500" b="1" dirty="0">
                <a:solidFill>
                  <a:srgbClr val="173236"/>
                </a:solidFill>
              </a:rPr>
              <a:t>Check</a:t>
            </a:r>
            <a:endParaRPr lang="en-US" sz="1500" dirty="0"/>
          </a:p>
        </p:txBody>
      </p:sp>
      <p:sp>
        <p:nvSpPr>
          <p:cNvPr id="24" name="Text 21"/>
          <p:cNvSpPr/>
          <p:nvPr/>
        </p:nvSpPr>
        <p:spPr>
          <a:xfrm>
            <a:off x="2971800" y="3794760"/>
            <a:ext cx="3017520" cy="201168"/>
          </a:xfrm>
          <a:prstGeom prst="rect">
            <a:avLst/>
          </a:prstGeom>
          <a:noFill/>
          <a:ln/>
        </p:spPr>
        <p:txBody>
          <a:bodyPr wrap="square" lIns="0" tIns="0" rIns="0" bIns="0" rtlCol="0" anchor="ctr"/>
          <a:lstStyle/>
          <a:p>
            <a:pPr marL="0" indent="0">
              <a:buNone/>
            </a:pPr>
            <a:r>
              <a:rPr lang="en-US" sz="1200" dirty="0">
                <a:solidFill>
                  <a:srgbClr val="5B6B70"/>
                </a:solidFill>
              </a:rPr>
              <a:t>Quiz + feedback</a:t>
            </a:r>
            <a:endParaRPr lang="en-US" sz="1200" dirty="0"/>
          </a:p>
        </p:txBody>
      </p:sp>
      <p:sp>
        <p:nvSpPr>
          <p:cNvPr id="25" name="Shape 22"/>
          <p:cNvSpPr/>
          <p:nvPr/>
        </p:nvSpPr>
        <p:spPr>
          <a:xfrm>
            <a:off x="982980" y="4251960"/>
            <a:ext cx="0" cy="292608"/>
          </a:xfrm>
          <a:prstGeom prst="line">
            <a:avLst/>
          </a:prstGeom>
          <a:noFill/>
          <a:ln w="25400">
            <a:solidFill>
              <a:srgbClr val="DFE7E4"/>
            </a:solidFill>
            <a:prstDash val="solid"/>
          </a:ln>
        </p:spPr>
        <p:txBody>
          <a:bodyPr/>
          <a:lstStyle/>
          <a:p>
            <a:endParaRPr lang="nl-NL"/>
          </a:p>
        </p:txBody>
      </p:sp>
      <p:sp>
        <p:nvSpPr>
          <p:cNvPr id="26" name="Shape 23"/>
          <p:cNvSpPr/>
          <p:nvPr/>
        </p:nvSpPr>
        <p:spPr>
          <a:xfrm>
            <a:off x="777240" y="4599432"/>
            <a:ext cx="411480" cy="411480"/>
          </a:xfrm>
          <a:prstGeom prst="ellipse">
            <a:avLst/>
          </a:prstGeom>
          <a:solidFill>
            <a:srgbClr val="0E6B66"/>
          </a:solidFill>
          <a:ln w="12700">
            <a:solidFill>
              <a:srgbClr val="0E6B66"/>
            </a:solidFill>
            <a:prstDash val="solid"/>
          </a:ln>
        </p:spPr>
        <p:txBody>
          <a:bodyPr/>
          <a:lstStyle/>
          <a:p>
            <a:endParaRPr lang="nl-NL"/>
          </a:p>
        </p:txBody>
      </p:sp>
      <p:sp>
        <p:nvSpPr>
          <p:cNvPr id="27" name="Text 24"/>
          <p:cNvSpPr/>
          <p:nvPr/>
        </p:nvSpPr>
        <p:spPr>
          <a:xfrm>
            <a:off x="777240" y="4718304"/>
            <a:ext cx="411480" cy="109728"/>
          </a:xfrm>
          <a:prstGeom prst="rect">
            <a:avLst/>
          </a:prstGeom>
          <a:noFill/>
          <a:ln/>
        </p:spPr>
        <p:txBody>
          <a:bodyPr wrap="square" lIns="0" tIns="0" rIns="0" bIns="0" rtlCol="0" anchor="ctr"/>
          <a:lstStyle/>
          <a:p>
            <a:pPr marL="0" indent="0" algn="ctr">
              <a:buNone/>
            </a:pPr>
            <a:r>
              <a:rPr lang="en-US" sz="850" b="1" dirty="0">
                <a:solidFill>
                  <a:srgbClr val="FFFFFF"/>
                </a:solidFill>
              </a:rPr>
              <a:t>5</a:t>
            </a:r>
            <a:endParaRPr lang="en-US" sz="850" dirty="0"/>
          </a:p>
        </p:txBody>
      </p:sp>
      <p:sp>
        <p:nvSpPr>
          <p:cNvPr id="28" name="Text 25"/>
          <p:cNvSpPr/>
          <p:nvPr/>
        </p:nvSpPr>
        <p:spPr>
          <a:xfrm>
            <a:off x="1417320" y="4562856"/>
            <a:ext cx="1463040" cy="228600"/>
          </a:xfrm>
          <a:prstGeom prst="rect">
            <a:avLst/>
          </a:prstGeom>
          <a:noFill/>
          <a:ln/>
        </p:spPr>
        <p:txBody>
          <a:bodyPr wrap="square" lIns="0" tIns="0" rIns="0" bIns="0" rtlCol="0" anchor="ctr"/>
          <a:lstStyle/>
          <a:p>
            <a:pPr marL="0" indent="0">
              <a:buNone/>
            </a:pPr>
            <a:r>
              <a:rPr lang="en-US" sz="1500" b="1" dirty="0">
                <a:solidFill>
                  <a:srgbClr val="173236"/>
                </a:solidFill>
              </a:rPr>
              <a:t>Apply</a:t>
            </a:r>
            <a:endParaRPr lang="en-US" sz="1500" dirty="0"/>
          </a:p>
        </p:txBody>
      </p:sp>
      <p:sp>
        <p:nvSpPr>
          <p:cNvPr id="29" name="Text 26"/>
          <p:cNvSpPr/>
          <p:nvPr/>
        </p:nvSpPr>
        <p:spPr>
          <a:xfrm>
            <a:off x="2971800" y="4581144"/>
            <a:ext cx="3017520" cy="201168"/>
          </a:xfrm>
          <a:prstGeom prst="rect">
            <a:avLst/>
          </a:prstGeom>
          <a:noFill/>
          <a:ln/>
        </p:spPr>
        <p:txBody>
          <a:bodyPr wrap="square" lIns="0" tIns="0" rIns="0" bIns="0" rtlCol="0" anchor="ctr"/>
          <a:lstStyle/>
          <a:p>
            <a:pPr marL="0" indent="0">
              <a:buNone/>
            </a:pPr>
            <a:r>
              <a:rPr lang="en-US" sz="1200" dirty="0">
                <a:solidFill>
                  <a:srgbClr val="5B6B70"/>
                </a:solidFill>
              </a:rPr>
              <a:t>Official THUAS link</a:t>
            </a:r>
            <a:endParaRPr lang="en-US" sz="1200" dirty="0"/>
          </a:p>
        </p:txBody>
      </p:sp>
      <p:sp>
        <p:nvSpPr>
          <p:cNvPr id="30" name="Shape 27"/>
          <p:cNvSpPr/>
          <p:nvPr/>
        </p:nvSpPr>
        <p:spPr>
          <a:xfrm>
            <a:off x="777240" y="5623560"/>
            <a:ext cx="5257800" cy="566928"/>
          </a:xfrm>
          <a:prstGeom prst="roundRect">
            <a:avLst>
              <a:gd name="adj" fmla="val 24194"/>
            </a:avLst>
          </a:prstGeom>
          <a:solidFill>
            <a:srgbClr val="DDF3EF"/>
          </a:solidFill>
          <a:ln w="12700">
            <a:solidFill>
              <a:srgbClr val="DFE7E4">
                <a:alpha val="70000"/>
              </a:srgbClr>
            </a:solidFill>
            <a:prstDash val="solid"/>
          </a:ln>
        </p:spPr>
        <p:txBody>
          <a:bodyPr/>
          <a:lstStyle/>
          <a:p>
            <a:endParaRPr lang="nl-NL"/>
          </a:p>
        </p:txBody>
      </p:sp>
      <p:sp>
        <p:nvSpPr>
          <p:cNvPr id="31" name="Text 28"/>
          <p:cNvSpPr/>
          <p:nvPr/>
        </p:nvSpPr>
        <p:spPr>
          <a:xfrm>
            <a:off x="987552" y="5833872"/>
            <a:ext cx="4846320" cy="137160"/>
          </a:xfrm>
          <a:prstGeom prst="rect">
            <a:avLst/>
          </a:prstGeom>
          <a:noFill/>
          <a:ln/>
        </p:spPr>
        <p:txBody>
          <a:bodyPr wrap="square" lIns="0" tIns="0" rIns="0" bIns="0" rtlCol="0" anchor="ctr"/>
          <a:lstStyle/>
          <a:p>
            <a:pPr marL="0" indent="0" algn="ctr">
              <a:buNone/>
            </a:pPr>
            <a:r>
              <a:rPr lang="en-US" sz="1250" b="1" dirty="0">
                <a:solidFill>
                  <a:srgbClr val="0E6B66"/>
                </a:solidFill>
              </a:rPr>
              <a:t>Output: confidence + completed module + saved progress</a:t>
            </a:r>
            <a:endParaRPr lang="en-US" sz="1250" dirty="0"/>
          </a:p>
        </p:txBody>
      </p:sp>
      <p:sp>
        <p:nvSpPr>
          <p:cNvPr id="32" name="Text 29"/>
          <p:cNvSpPr/>
          <p:nvPr/>
        </p:nvSpPr>
        <p:spPr>
          <a:xfrm>
            <a:off x="502920" y="6565392"/>
            <a:ext cx="4114800" cy="164592"/>
          </a:xfrm>
          <a:prstGeom prst="rect">
            <a:avLst/>
          </a:prstGeom>
          <a:noFill/>
          <a:ln/>
        </p:spPr>
        <p:txBody>
          <a:bodyPr wrap="square" lIns="0" tIns="0" rIns="0" bIns="0" rtlCol="0" anchor="ctr"/>
          <a:lstStyle/>
          <a:p>
            <a:pPr marL="0" indent="0">
              <a:buNone/>
            </a:pPr>
            <a:r>
              <a:rPr lang="en-US" sz="780" dirty="0">
                <a:solidFill>
                  <a:srgbClr val="829294"/>
                </a:solidFill>
              </a:rPr>
              <a:t>STUDYSTART · AI for Good Hackathon 1</a:t>
            </a:r>
            <a:endParaRPr lang="en-US" sz="780" dirty="0"/>
          </a:p>
        </p:txBody>
      </p:sp>
      <p:sp>
        <p:nvSpPr>
          <p:cNvPr id="33" name="Text 30"/>
          <p:cNvSpPr/>
          <p:nvPr/>
        </p:nvSpPr>
        <p:spPr>
          <a:xfrm>
            <a:off x="11292840" y="6510528"/>
            <a:ext cx="411480" cy="219456"/>
          </a:xfrm>
          <a:prstGeom prst="rect">
            <a:avLst/>
          </a:prstGeom>
          <a:noFill/>
          <a:ln/>
        </p:spPr>
        <p:txBody>
          <a:bodyPr wrap="square" lIns="0" tIns="0" rIns="0" bIns="0" rtlCol="0" anchor="ctr"/>
          <a:lstStyle/>
          <a:p>
            <a:pPr marL="0" indent="0" algn="r">
              <a:buNone/>
            </a:pPr>
            <a:r>
              <a:rPr lang="en-US" sz="850" dirty="0">
                <a:solidFill>
                  <a:srgbClr val="829294"/>
                </a:solidFill>
              </a:rPr>
              <a:t>06</a:t>
            </a:r>
            <a:endParaRPr lang="en-US" sz="85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502920" y="292608"/>
            <a:ext cx="7132320" cy="411480"/>
          </a:xfrm>
          <a:prstGeom prst="rect">
            <a:avLst/>
          </a:prstGeom>
          <a:noFill/>
          <a:ln/>
        </p:spPr>
        <p:txBody>
          <a:bodyPr wrap="square" lIns="0" tIns="0" rIns="0" bIns="0" rtlCol="0" anchor="ctr"/>
          <a:lstStyle/>
          <a:p>
            <a:pPr marL="0" indent="0">
              <a:buNone/>
            </a:pPr>
            <a:r>
              <a:rPr lang="en-US" sz="2400" b="1" dirty="0">
                <a:solidFill>
                  <a:srgbClr val="173236"/>
                </a:solidFill>
                <a:latin typeface="Aptos Display" pitchFamily="34" charset="0"/>
                <a:ea typeface="Aptos Display" pitchFamily="34" charset="-122"/>
                <a:cs typeface="Aptos Display" pitchFamily="34" charset="-120"/>
              </a:rPr>
              <a:t>Live demo</a:t>
            </a:r>
            <a:endParaRPr lang="en-US" sz="2400" dirty="0"/>
          </a:p>
        </p:txBody>
      </p:sp>
      <p:sp>
        <p:nvSpPr>
          <p:cNvPr id="3" name="Text 1"/>
          <p:cNvSpPr/>
          <p:nvPr/>
        </p:nvSpPr>
        <p:spPr>
          <a:xfrm>
            <a:off x="530352" y="749808"/>
            <a:ext cx="8412480" cy="292608"/>
          </a:xfrm>
          <a:prstGeom prst="rect">
            <a:avLst/>
          </a:prstGeom>
          <a:noFill/>
          <a:ln/>
        </p:spPr>
        <p:txBody>
          <a:bodyPr wrap="square" lIns="0" tIns="0" rIns="0" bIns="0" rtlCol="0" anchor="ctr"/>
          <a:lstStyle/>
          <a:p>
            <a:pPr marL="0" indent="0">
              <a:buNone/>
            </a:pPr>
            <a:r>
              <a:rPr lang="en-US" sz="1050" dirty="0">
                <a:solidFill>
                  <a:srgbClr val="5B6B70"/>
                </a:solidFill>
              </a:rPr>
              <a:t>A short end-to-end user journey.</a:t>
            </a:r>
            <a:endParaRPr lang="en-US" sz="1050" dirty="0"/>
          </a:p>
        </p:txBody>
      </p:sp>
      <p:sp>
        <p:nvSpPr>
          <p:cNvPr id="4" name="Shape 2"/>
          <p:cNvSpPr/>
          <p:nvPr/>
        </p:nvSpPr>
        <p:spPr>
          <a:xfrm>
            <a:off x="512064" y="1133856"/>
            <a:ext cx="1828800" cy="0"/>
          </a:xfrm>
          <a:prstGeom prst="line">
            <a:avLst/>
          </a:prstGeom>
          <a:noFill/>
          <a:ln w="25400">
            <a:solidFill>
              <a:srgbClr val="0E6B66"/>
            </a:solidFill>
            <a:prstDash val="solid"/>
          </a:ln>
        </p:spPr>
        <p:txBody>
          <a:bodyPr/>
          <a:lstStyle/>
          <a:p>
            <a:endParaRPr lang="nl-NL"/>
          </a:p>
        </p:txBody>
      </p:sp>
      <p:pic>
        <p:nvPicPr>
          <p:cNvPr id="5" name="Image 0" descr="/mnt/data/wide_clean_modern_product_hero_style_scene_a_te.png"/>
          <p:cNvPicPr>
            <a:picLocks noChangeAspect="1"/>
          </p:cNvPicPr>
          <p:nvPr/>
        </p:nvPicPr>
        <p:blipFill>
          <a:blip r:embed="rId3"/>
          <a:stretch>
            <a:fillRect/>
          </a:stretch>
        </p:blipFill>
        <p:spPr>
          <a:xfrm>
            <a:off x="658368" y="1600200"/>
            <a:ext cx="5303520" cy="2980944"/>
          </a:xfrm>
          <a:prstGeom prst="rect">
            <a:avLst/>
          </a:prstGeom>
        </p:spPr>
      </p:pic>
      <p:sp>
        <p:nvSpPr>
          <p:cNvPr id="6" name="Text 3"/>
          <p:cNvSpPr/>
          <p:nvPr/>
        </p:nvSpPr>
        <p:spPr>
          <a:xfrm>
            <a:off x="6446520" y="1417320"/>
            <a:ext cx="2377440" cy="274320"/>
          </a:xfrm>
          <a:prstGeom prst="rect">
            <a:avLst/>
          </a:prstGeom>
          <a:noFill/>
          <a:ln/>
        </p:spPr>
        <p:txBody>
          <a:bodyPr wrap="square" lIns="0" tIns="0" rIns="0" bIns="0" rtlCol="0" anchor="ctr"/>
          <a:lstStyle/>
          <a:p>
            <a:pPr marL="0" indent="0">
              <a:buNone/>
            </a:pPr>
            <a:r>
              <a:rPr lang="en-US" sz="1500" b="1" dirty="0">
                <a:solidFill>
                  <a:srgbClr val="0E6B66"/>
                </a:solidFill>
              </a:rPr>
              <a:t>Demo path</a:t>
            </a:r>
            <a:endParaRPr lang="en-US" sz="1500" dirty="0"/>
          </a:p>
        </p:txBody>
      </p:sp>
      <p:sp>
        <p:nvSpPr>
          <p:cNvPr id="7" name="Text 4"/>
          <p:cNvSpPr/>
          <p:nvPr/>
        </p:nvSpPr>
        <p:spPr>
          <a:xfrm>
            <a:off x="6492240" y="1965960"/>
            <a:ext cx="4754880" cy="457200"/>
          </a:xfrm>
          <a:prstGeom prst="rect">
            <a:avLst/>
          </a:prstGeom>
          <a:noFill/>
          <a:ln/>
        </p:spPr>
        <p:txBody>
          <a:bodyPr wrap="square" lIns="0" tIns="0" rIns="0" bIns="0" rtlCol="0" anchor="t">
            <a:normAutofit/>
          </a:bodyPr>
          <a:lstStyle/>
          <a:p>
            <a:pPr marL="0" indent="0">
              <a:buNone/>
            </a:pPr>
            <a:r>
              <a:rPr lang="en-US" sz="1350" b="1" dirty="0">
                <a:solidFill>
                  <a:srgbClr val="0E6B66"/>
                </a:solidFill>
              </a:rPr>
              <a:t>• </a:t>
            </a:r>
            <a:r>
              <a:rPr lang="en-US" sz="1350" dirty="0">
                <a:solidFill>
                  <a:srgbClr val="173236"/>
                </a:solidFill>
              </a:rPr>
              <a:t>Open dashboard and show progress</a:t>
            </a:r>
            <a:endParaRPr lang="en-US" sz="1350" dirty="0"/>
          </a:p>
        </p:txBody>
      </p:sp>
      <p:sp>
        <p:nvSpPr>
          <p:cNvPr id="8" name="Text 5"/>
          <p:cNvSpPr/>
          <p:nvPr/>
        </p:nvSpPr>
        <p:spPr>
          <a:xfrm>
            <a:off x="6492240" y="2560320"/>
            <a:ext cx="4754880" cy="457200"/>
          </a:xfrm>
          <a:prstGeom prst="rect">
            <a:avLst/>
          </a:prstGeom>
          <a:noFill/>
          <a:ln/>
        </p:spPr>
        <p:txBody>
          <a:bodyPr wrap="square" lIns="0" tIns="0" rIns="0" bIns="0" rtlCol="0" anchor="t">
            <a:normAutofit/>
          </a:bodyPr>
          <a:lstStyle/>
          <a:p>
            <a:pPr marL="0" indent="0">
              <a:buNone/>
            </a:pPr>
            <a:r>
              <a:rPr lang="en-US" sz="1350" b="1" dirty="0">
                <a:solidFill>
                  <a:srgbClr val="0E6B66"/>
                </a:solidFill>
              </a:rPr>
              <a:t>• </a:t>
            </a:r>
            <a:r>
              <a:rPr lang="en-US" sz="1350" dirty="0">
                <a:solidFill>
                  <a:srgbClr val="173236"/>
                </a:solidFill>
              </a:rPr>
              <a:t>Choose MyTimeTable module</a:t>
            </a:r>
            <a:endParaRPr lang="en-US" sz="1350" dirty="0"/>
          </a:p>
        </p:txBody>
      </p:sp>
      <p:sp>
        <p:nvSpPr>
          <p:cNvPr id="9" name="Text 6"/>
          <p:cNvSpPr/>
          <p:nvPr/>
        </p:nvSpPr>
        <p:spPr>
          <a:xfrm>
            <a:off x="6492240" y="3154680"/>
            <a:ext cx="4754880" cy="457200"/>
          </a:xfrm>
          <a:prstGeom prst="rect">
            <a:avLst/>
          </a:prstGeom>
          <a:noFill/>
          <a:ln/>
        </p:spPr>
        <p:txBody>
          <a:bodyPr wrap="square" lIns="0" tIns="0" rIns="0" bIns="0" rtlCol="0" anchor="t">
            <a:normAutofit/>
          </a:bodyPr>
          <a:lstStyle/>
          <a:p>
            <a:pPr marL="0" indent="0">
              <a:buNone/>
            </a:pPr>
            <a:r>
              <a:rPr lang="en-US" sz="1350" b="1" dirty="0">
                <a:solidFill>
                  <a:srgbClr val="0E6B66"/>
                </a:solidFill>
              </a:rPr>
              <a:t>• </a:t>
            </a:r>
            <a:r>
              <a:rPr lang="en-US" sz="1350" dirty="0">
                <a:solidFill>
                  <a:srgbClr val="173236"/>
                </a:solidFill>
              </a:rPr>
              <a:t>Show video embedded on the live site</a:t>
            </a:r>
            <a:endParaRPr lang="en-US" sz="1350" dirty="0"/>
          </a:p>
        </p:txBody>
      </p:sp>
      <p:sp>
        <p:nvSpPr>
          <p:cNvPr id="10" name="Text 7"/>
          <p:cNvSpPr/>
          <p:nvPr/>
        </p:nvSpPr>
        <p:spPr>
          <a:xfrm>
            <a:off x="6492240" y="3749040"/>
            <a:ext cx="4754880" cy="457200"/>
          </a:xfrm>
          <a:prstGeom prst="rect">
            <a:avLst/>
          </a:prstGeom>
          <a:noFill/>
          <a:ln/>
        </p:spPr>
        <p:txBody>
          <a:bodyPr wrap="square" lIns="0" tIns="0" rIns="0" bIns="0" rtlCol="0" anchor="t">
            <a:normAutofit/>
          </a:bodyPr>
          <a:lstStyle/>
          <a:p>
            <a:pPr marL="0" indent="0">
              <a:buNone/>
            </a:pPr>
            <a:r>
              <a:rPr lang="en-US" sz="1350" b="1" dirty="0">
                <a:solidFill>
                  <a:srgbClr val="0E6B66"/>
                </a:solidFill>
              </a:rPr>
              <a:t>• </a:t>
            </a:r>
            <a:r>
              <a:rPr lang="en-US" sz="1350" dirty="0">
                <a:solidFill>
                  <a:srgbClr val="173236"/>
                </a:solidFill>
              </a:rPr>
              <a:t>Answer a knowledge-check question</a:t>
            </a:r>
            <a:endParaRPr lang="en-US" sz="1350" dirty="0"/>
          </a:p>
        </p:txBody>
      </p:sp>
      <p:sp>
        <p:nvSpPr>
          <p:cNvPr id="11" name="Text 8"/>
          <p:cNvSpPr/>
          <p:nvPr/>
        </p:nvSpPr>
        <p:spPr>
          <a:xfrm>
            <a:off x="6492240" y="4343400"/>
            <a:ext cx="4754880" cy="457200"/>
          </a:xfrm>
          <a:prstGeom prst="rect">
            <a:avLst/>
          </a:prstGeom>
          <a:noFill/>
          <a:ln/>
        </p:spPr>
        <p:txBody>
          <a:bodyPr wrap="square" lIns="0" tIns="0" rIns="0" bIns="0" rtlCol="0" anchor="t">
            <a:normAutofit/>
          </a:bodyPr>
          <a:lstStyle/>
          <a:p>
            <a:pPr marL="0" indent="0">
              <a:buNone/>
            </a:pPr>
            <a:r>
              <a:rPr lang="en-US" sz="1350" b="1" dirty="0">
                <a:solidFill>
                  <a:srgbClr val="0E6B66"/>
                </a:solidFill>
              </a:rPr>
              <a:t>• </a:t>
            </a:r>
            <a:r>
              <a:rPr lang="en-US" sz="1350" dirty="0">
                <a:solidFill>
                  <a:srgbClr val="173236"/>
                </a:solidFill>
              </a:rPr>
              <a:t>Finish module and open official link</a:t>
            </a:r>
            <a:endParaRPr lang="en-US" sz="1350" dirty="0"/>
          </a:p>
        </p:txBody>
      </p:sp>
      <p:sp>
        <p:nvSpPr>
          <p:cNvPr id="14" name="Text 11"/>
          <p:cNvSpPr/>
          <p:nvPr/>
        </p:nvSpPr>
        <p:spPr>
          <a:xfrm>
            <a:off x="502920" y="6565392"/>
            <a:ext cx="4114800" cy="164592"/>
          </a:xfrm>
          <a:prstGeom prst="rect">
            <a:avLst/>
          </a:prstGeom>
          <a:noFill/>
          <a:ln/>
        </p:spPr>
        <p:txBody>
          <a:bodyPr wrap="square" lIns="0" tIns="0" rIns="0" bIns="0" rtlCol="0" anchor="ctr"/>
          <a:lstStyle/>
          <a:p>
            <a:pPr marL="0" indent="0">
              <a:buNone/>
            </a:pPr>
            <a:r>
              <a:rPr lang="en-US" sz="780" dirty="0">
                <a:solidFill>
                  <a:srgbClr val="829294"/>
                </a:solidFill>
              </a:rPr>
              <a:t>STUDYSTART · AI for Good Hackathon 1</a:t>
            </a:r>
            <a:endParaRPr lang="en-US" sz="780" dirty="0"/>
          </a:p>
        </p:txBody>
      </p:sp>
      <p:sp>
        <p:nvSpPr>
          <p:cNvPr id="15" name="Text 12"/>
          <p:cNvSpPr/>
          <p:nvPr/>
        </p:nvSpPr>
        <p:spPr>
          <a:xfrm>
            <a:off x="11292840" y="6510528"/>
            <a:ext cx="411480" cy="219456"/>
          </a:xfrm>
          <a:prstGeom prst="rect">
            <a:avLst/>
          </a:prstGeom>
          <a:noFill/>
          <a:ln/>
        </p:spPr>
        <p:txBody>
          <a:bodyPr wrap="square" lIns="0" tIns="0" rIns="0" bIns="0" rtlCol="0" anchor="ctr"/>
          <a:lstStyle/>
          <a:p>
            <a:pPr marL="0" indent="0" algn="r">
              <a:buNone/>
            </a:pPr>
            <a:r>
              <a:rPr lang="en-US" sz="850" dirty="0">
                <a:solidFill>
                  <a:srgbClr val="829294"/>
                </a:solidFill>
              </a:rPr>
              <a:t>07</a:t>
            </a:r>
            <a:endParaRPr lang="en-US" sz="850" dirty="0"/>
          </a:p>
        </p:txBody>
      </p:sp>
      <p:sp>
        <p:nvSpPr>
          <p:cNvPr id="16" name="TextBox 15">
            <a:extLst>
              <a:ext uri="{FF2B5EF4-FFF2-40B4-BE49-F238E27FC236}">
                <a16:creationId xmlns:a16="http://schemas.microsoft.com/office/drawing/2014/main" id="{3CA9B6B1-844B-EA68-11FE-8548404FC002}"/>
              </a:ext>
            </a:extLst>
          </p:cNvPr>
          <p:cNvSpPr txBox="1"/>
          <p:nvPr/>
        </p:nvSpPr>
        <p:spPr>
          <a:xfrm>
            <a:off x="830424" y="4934634"/>
            <a:ext cx="4438523" cy="369332"/>
          </a:xfrm>
          <a:prstGeom prst="rect">
            <a:avLst/>
          </a:prstGeom>
          <a:noFill/>
        </p:spPr>
        <p:txBody>
          <a:bodyPr wrap="none" rtlCol="0">
            <a:spAutoFit/>
          </a:bodyPr>
          <a:lstStyle/>
          <a:p>
            <a:r>
              <a:rPr lang="nl-NL" dirty="0">
                <a:hlinkClick r:id="rId4"/>
              </a:rPr>
              <a:t>https://thuas-international-p9es.bolt.host/</a:t>
            </a:r>
            <a:endParaRPr lang="nl-NL" dirty="0"/>
          </a:p>
        </p:txBody>
      </p:sp>
      <p:pic>
        <p:nvPicPr>
          <p:cNvPr id="13" name="Picture 12">
            <a:extLst>
              <a:ext uri="{FF2B5EF4-FFF2-40B4-BE49-F238E27FC236}">
                <a16:creationId xmlns:a16="http://schemas.microsoft.com/office/drawing/2014/main" id="{9F6B3A2B-3881-3410-5D2A-405739EA8193}"/>
              </a:ext>
            </a:extLst>
          </p:cNvPr>
          <p:cNvPicPr>
            <a:picLocks noChangeAspect="1"/>
          </p:cNvPicPr>
          <p:nvPr/>
        </p:nvPicPr>
        <p:blipFill>
          <a:blip r:embed="rId5"/>
          <a:srcRect l="7498" t="15717"/>
          <a:stretch>
            <a:fillRect/>
          </a:stretch>
        </p:blipFill>
        <p:spPr>
          <a:xfrm>
            <a:off x="3046941" y="254485"/>
            <a:ext cx="1022139" cy="8992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502920" y="292608"/>
            <a:ext cx="7132320" cy="411480"/>
          </a:xfrm>
          <a:prstGeom prst="rect">
            <a:avLst/>
          </a:prstGeom>
          <a:noFill/>
          <a:ln/>
        </p:spPr>
        <p:txBody>
          <a:bodyPr wrap="square" lIns="0" tIns="0" rIns="0" bIns="0" rtlCol="0" anchor="ctr"/>
          <a:lstStyle/>
          <a:p>
            <a:pPr marL="0" indent="0">
              <a:buNone/>
            </a:pPr>
            <a:r>
              <a:rPr lang="en-US" sz="2400" b="1" dirty="0">
                <a:solidFill>
                  <a:srgbClr val="173236"/>
                </a:solidFill>
                <a:latin typeface="Aptos Display" pitchFamily="34" charset="0"/>
                <a:ea typeface="Aptos Display" pitchFamily="34" charset="-122"/>
                <a:cs typeface="Aptos Display" pitchFamily="34" charset="-120"/>
              </a:rPr>
              <a:t>How we used Bolt.new</a:t>
            </a:r>
            <a:endParaRPr lang="en-US" sz="2400" dirty="0"/>
          </a:p>
        </p:txBody>
      </p:sp>
      <p:sp>
        <p:nvSpPr>
          <p:cNvPr id="3" name="Text 1"/>
          <p:cNvSpPr/>
          <p:nvPr/>
        </p:nvSpPr>
        <p:spPr>
          <a:xfrm>
            <a:off x="530352" y="749808"/>
            <a:ext cx="8412480" cy="292608"/>
          </a:xfrm>
          <a:prstGeom prst="rect">
            <a:avLst/>
          </a:prstGeom>
          <a:noFill/>
          <a:ln/>
        </p:spPr>
        <p:txBody>
          <a:bodyPr wrap="square" lIns="0" tIns="0" rIns="0" bIns="0" rtlCol="0" anchor="ctr"/>
          <a:lstStyle/>
          <a:p>
            <a:pPr marL="0" indent="0">
              <a:buNone/>
            </a:pPr>
            <a:r>
              <a:rPr lang="en-US" sz="1050" dirty="0">
                <a:solidFill>
                  <a:srgbClr val="5B6B70"/>
                </a:solidFill>
              </a:rPr>
              <a:t>Meaningful AI-assisted building, not just a one-shot generation.</a:t>
            </a:r>
            <a:endParaRPr lang="en-US" sz="1050" dirty="0"/>
          </a:p>
        </p:txBody>
      </p:sp>
      <p:sp>
        <p:nvSpPr>
          <p:cNvPr id="4" name="Shape 2"/>
          <p:cNvSpPr/>
          <p:nvPr/>
        </p:nvSpPr>
        <p:spPr>
          <a:xfrm>
            <a:off x="512064" y="1133856"/>
            <a:ext cx="1828800" cy="0"/>
          </a:xfrm>
          <a:prstGeom prst="line">
            <a:avLst/>
          </a:prstGeom>
          <a:noFill/>
          <a:ln w="25400">
            <a:solidFill>
              <a:srgbClr val="0E6B66"/>
            </a:solidFill>
            <a:prstDash val="solid"/>
          </a:ln>
        </p:spPr>
        <p:txBody>
          <a:bodyPr/>
          <a:lstStyle/>
          <a:p>
            <a:endParaRPr lang="nl-NL"/>
          </a:p>
        </p:txBody>
      </p:sp>
      <p:pic>
        <p:nvPicPr>
          <p:cNvPr id="5" name="Image 0" descr="/mnt/data/a_bright_modern_indoor_study_mentoring_scene_in_a.png"/>
          <p:cNvPicPr>
            <a:picLocks noChangeAspect="1"/>
          </p:cNvPicPr>
          <p:nvPr/>
        </p:nvPicPr>
        <p:blipFill>
          <a:blip r:embed="rId3"/>
          <a:stretch>
            <a:fillRect/>
          </a:stretch>
        </p:blipFill>
        <p:spPr>
          <a:xfrm>
            <a:off x="6492240" y="1463040"/>
            <a:ext cx="5074920" cy="2852928"/>
          </a:xfrm>
          <a:prstGeom prst="rect">
            <a:avLst/>
          </a:prstGeom>
        </p:spPr>
      </p:pic>
      <p:sp>
        <p:nvSpPr>
          <p:cNvPr id="6" name="Shape 3"/>
          <p:cNvSpPr/>
          <p:nvPr/>
        </p:nvSpPr>
        <p:spPr>
          <a:xfrm>
            <a:off x="713232" y="1417320"/>
            <a:ext cx="594360" cy="502920"/>
          </a:xfrm>
          <a:prstGeom prst="roundRect">
            <a:avLst>
              <a:gd name="adj" fmla="val 14545"/>
            </a:avLst>
          </a:prstGeom>
          <a:solidFill>
            <a:srgbClr val="0E6B66"/>
          </a:solidFill>
          <a:ln w="12700">
            <a:solidFill>
              <a:srgbClr val="0E6B66"/>
            </a:solidFill>
            <a:prstDash val="solid"/>
          </a:ln>
        </p:spPr>
        <p:txBody>
          <a:bodyPr/>
          <a:lstStyle/>
          <a:p>
            <a:endParaRPr lang="nl-NL"/>
          </a:p>
        </p:txBody>
      </p:sp>
      <p:sp>
        <p:nvSpPr>
          <p:cNvPr id="7" name="Text 4"/>
          <p:cNvSpPr/>
          <p:nvPr/>
        </p:nvSpPr>
        <p:spPr>
          <a:xfrm>
            <a:off x="713232" y="1563624"/>
            <a:ext cx="594360" cy="13716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8" name="Text 5"/>
          <p:cNvSpPr/>
          <p:nvPr/>
        </p:nvSpPr>
        <p:spPr>
          <a:xfrm>
            <a:off x="1508760" y="1435608"/>
            <a:ext cx="2377440" cy="201168"/>
          </a:xfrm>
          <a:prstGeom prst="rect">
            <a:avLst/>
          </a:prstGeom>
          <a:noFill/>
          <a:ln/>
        </p:spPr>
        <p:txBody>
          <a:bodyPr wrap="square" lIns="0" tIns="0" rIns="0" bIns="0" rtlCol="0" anchor="ctr"/>
          <a:lstStyle/>
          <a:p>
            <a:pPr marL="0" indent="0">
              <a:buNone/>
            </a:pPr>
            <a:r>
              <a:rPr lang="en-US" sz="1450" b="1" dirty="0">
                <a:solidFill>
                  <a:srgbClr val="173236"/>
                </a:solidFill>
              </a:rPr>
              <a:t>Plan first</a:t>
            </a:r>
            <a:endParaRPr lang="en-US" sz="1450" dirty="0"/>
          </a:p>
        </p:txBody>
      </p:sp>
      <p:sp>
        <p:nvSpPr>
          <p:cNvPr id="9" name="Text 6"/>
          <p:cNvSpPr/>
          <p:nvPr/>
        </p:nvSpPr>
        <p:spPr>
          <a:xfrm>
            <a:off x="1508760" y="1709928"/>
            <a:ext cx="4206240" cy="201168"/>
          </a:xfrm>
          <a:prstGeom prst="rect">
            <a:avLst/>
          </a:prstGeom>
          <a:noFill/>
          <a:ln/>
        </p:spPr>
        <p:txBody>
          <a:bodyPr wrap="square" lIns="0" tIns="0" rIns="0" bIns="0" rtlCol="0" anchor="ctr"/>
          <a:lstStyle/>
          <a:p>
            <a:pPr marL="0" indent="0">
              <a:buNone/>
            </a:pPr>
            <a:r>
              <a:rPr lang="en-US" sz="1050" dirty="0">
                <a:solidFill>
                  <a:srgbClr val="5B6B70"/>
                </a:solidFill>
              </a:rPr>
              <a:t>WHO · WHAT · SCREENS · DATA · STYLE · DON’T</a:t>
            </a:r>
            <a:endParaRPr lang="en-US" sz="1050" dirty="0"/>
          </a:p>
        </p:txBody>
      </p:sp>
      <p:sp>
        <p:nvSpPr>
          <p:cNvPr id="10" name="Shape 7"/>
          <p:cNvSpPr/>
          <p:nvPr/>
        </p:nvSpPr>
        <p:spPr>
          <a:xfrm>
            <a:off x="713232" y="2423160"/>
            <a:ext cx="594360" cy="502920"/>
          </a:xfrm>
          <a:prstGeom prst="roundRect">
            <a:avLst>
              <a:gd name="adj" fmla="val 14545"/>
            </a:avLst>
          </a:prstGeom>
          <a:solidFill>
            <a:srgbClr val="0E6B66"/>
          </a:solidFill>
          <a:ln w="12700">
            <a:solidFill>
              <a:srgbClr val="0E6B66"/>
            </a:solidFill>
            <a:prstDash val="solid"/>
          </a:ln>
        </p:spPr>
        <p:txBody>
          <a:bodyPr/>
          <a:lstStyle/>
          <a:p>
            <a:endParaRPr lang="nl-NL"/>
          </a:p>
        </p:txBody>
      </p:sp>
      <p:sp>
        <p:nvSpPr>
          <p:cNvPr id="11" name="Text 8"/>
          <p:cNvSpPr/>
          <p:nvPr/>
        </p:nvSpPr>
        <p:spPr>
          <a:xfrm>
            <a:off x="713232" y="2569464"/>
            <a:ext cx="594360" cy="13716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2" name="Text 9"/>
          <p:cNvSpPr/>
          <p:nvPr/>
        </p:nvSpPr>
        <p:spPr>
          <a:xfrm>
            <a:off x="1508760" y="2441448"/>
            <a:ext cx="2377440" cy="201168"/>
          </a:xfrm>
          <a:prstGeom prst="rect">
            <a:avLst/>
          </a:prstGeom>
          <a:noFill/>
          <a:ln/>
        </p:spPr>
        <p:txBody>
          <a:bodyPr wrap="square" lIns="0" tIns="0" rIns="0" bIns="0" rtlCol="0" anchor="ctr"/>
          <a:lstStyle/>
          <a:p>
            <a:pPr marL="0" indent="0">
              <a:buNone/>
            </a:pPr>
            <a:r>
              <a:rPr lang="en-US" sz="1450" b="1" dirty="0">
                <a:solidFill>
                  <a:srgbClr val="173236"/>
                </a:solidFill>
              </a:rPr>
              <a:t>Ask for the plan</a:t>
            </a:r>
            <a:endParaRPr lang="en-US" sz="1450" dirty="0"/>
          </a:p>
        </p:txBody>
      </p:sp>
      <p:sp>
        <p:nvSpPr>
          <p:cNvPr id="13" name="Text 10"/>
          <p:cNvSpPr/>
          <p:nvPr/>
        </p:nvSpPr>
        <p:spPr>
          <a:xfrm>
            <a:off x="1508760" y="2715768"/>
            <a:ext cx="4206240" cy="201168"/>
          </a:xfrm>
          <a:prstGeom prst="rect">
            <a:avLst/>
          </a:prstGeom>
          <a:noFill/>
          <a:ln/>
        </p:spPr>
        <p:txBody>
          <a:bodyPr wrap="square" lIns="0" tIns="0" rIns="0" bIns="0" rtlCol="0" anchor="ctr"/>
          <a:lstStyle/>
          <a:p>
            <a:pPr marL="0" indent="0">
              <a:buNone/>
            </a:pPr>
            <a:r>
              <a:rPr lang="en-US" sz="1050" dirty="0">
                <a:solidFill>
                  <a:srgbClr val="5B6B70"/>
                </a:solidFill>
              </a:rPr>
              <a:t>Bolt listed files before writing code</a:t>
            </a:r>
            <a:endParaRPr lang="en-US" sz="1050" dirty="0"/>
          </a:p>
        </p:txBody>
      </p:sp>
      <p:sp>
        <p:nvSpPr>
          <p:cNvPr id="14" name="Shape 11"/>
          <p:cNvSpPr/>
          <p:nvPr/>
        </p:nvSpPr>
        <p:spPr>
          <a:xfrm>
            <a:off x="713232" y="3429000"/>
            <a:ext cx="594360" cy="502920"/>
          </a:xfrm>
          <a:prstGeom prst="roundRect">
            <a:avLst>
              <a:gd name="adj" fmla="val 14545"/>
            </a:avLst>
          </a:prstGeom>
          <a:solidFill>
            <a:srgbClr val="F2B84B"/>
          </a:solidFill>
          <a:ln w="12700">
            <a:solidFill>
              <a:srgbClr val="F2B84B"/>
            </a:solidFill>
            <a:prstDash val="solid"/>
          </a:ln>
        </p:spPr>
        <p:txBody>
          <a:bodyPr/>
          <a:lstStyle/>
          <a:p>
            <a:endParaRPr lang="nl-NL"/>
          </a:p>
        </p:txBody>
      </p:sp>
      <p:sp>
        <p:nvSpPr>
          <p:cNvPr id="15" name="Text 12"/>
          <p:cNvSpPr/>
          <p:nvPr/>
        </p:nvSpPr>
        <p:spPr>
          <a:xfrm>
            <a:off x="713232" y="3575304"/>
            <a:ext cx="594360" cy="13716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6" name="Text 13"/>
          <p:cNvSpPr/>
          <p:nvPr/>
        </p:nvSpPr>
        <p:spPr>
          <a:xfrm>
            <a:off x="1508760" y="3447288"/>
            <a:ext cx="2377440" cy="201168"/>
          </a:xfrm>
          <a:prstGeom prst="rect">
            <a:avLst/>
          </a:prstGeom>
          <a:noFill/>
          <a:ln/>
        </p:spPr>
        <p:txBody>
          <a:bodyPr wrap="square" lIns="0" tIns="0" rIns="0" bIns="0" rtlCol="0" anchor="ctr"/>
          <a:lstStyle/>
          <a:p>
            <a:pPr marL="0" indent="0">
              <a:buNone/>
            </a:pPr>
            <a:r>
              <a:rPr lang="en-US" sz="1450" b="1" dirty="0">
                <a:solidFill>
                  <a:srgbClr val="173236"/>
                </a:solidFill>
              </a:rPr>
              <a:t>Small prompts</a:t>
            </a:r>
            <a:endParaRPr lang="en-US" sz="1450" dirty="0"/>
          </a:p>
        </p:txBody>
      </p:sp>
      <p:sp>
        <p:nvSpPr>
          <p:cNvPr id="17" name="Text 14"/>
          <p:cNvSpPr/>
          <p:nvPr/>
        </p:nvSpPr>
        <p:spPr>
          <a:xfrm>
            <a:off x="1508760" y="3721608"/>
            <a:ext cx="4206240" cy="201168"/>
          </a:xfrm>
          <a:prstGeom prst="rect">
            <a:avLst/>
          </a:prstGeom>
          <a:noFill/>
          <a:ln/>
        </p:spPr>
        <p:txBody>
          <a:bodyPr wrap="square" lIns="0" tIns="0" rIns="0" bIns="0" rtlCol="0" anchor="ctr"/>
          <a:lstStyle/>
          <a:p>
            <a:pPr marL="0" indent="0">
              <a:buNone/>
            </a:pPr>
            <a:r>
              <a:rPr lang="en-US" sz="1050" dirty="0">
                <a:solidFill>
                  <a:srgbClr val="5B6B70"/>
                </a:solidFill>
              </a:rPr>
              <a:t>Content update, links, then video embeds</a:t>
            </a:r>
            <a:endParaRPr lang="en-US" sz="1050" dirty="0"/>
          </a:p>
        </p:txBody>
      </p:sp>
      <p:sp>
        <p:nvSpPr>
          <p:cNvPr id="18" name="Shape 15"/>
          <p:cNvSpPr/>
          <p:nvPr/>
        </p:nvSpPr>
        <p:spPr>
          <a:xfrm>
            <a:off x="713232" y="4434840"/>
            <a:ext cx="594360" cy="502920"/>
          </a:xfrm>
          <a:prstGeom prst="roundRect">
            <a:avLst>
              <a:gd name="adj" fmla="val 14545"/>
            </a:avLst>
          </a:prstGeom>
          <a:solidFill>
            <a:srgbClr val="0E6B66"/>
          </a:solidFill>
          <a:ln w="12700">
            <a:solidFill>
              <a:srgbClr val="0E6B66"/>
            </a:solidFill>
            <a:prstDash val="solid"/>
          </a:ln>
        </p:spPr>
        <p:txBody>
          <a:bodyPr/>
          <a:lstStyle/>
          <a:p>
            <a:endParaRPr lang="nl-NL"/>
          </a:p>
        </p:txBody>
      </p:sp>
      <p:sp>
        <p:nvSpPr>
          <p:cNvPr id="19" name="Text 16"/>
          <p:cNvSpPr/>
          <p:nvPr/>
        </p:nvSpPr>
        <p:spPr>
          <a:xfrm>
            <a:off x="713232" y="4581144"/>
            <a:ext cx="594360" cy="13716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0" name="Text 17"/>
          <p:cNvSpPr/>
          <p:nvPr/>
        </p:nvSpPr>
        <p:spPr>
          <a:xfrm>
            <a:off x="1508760" y="4453128"/>
            <a:ext cx="2377440" cy="201168"/>
          </a:xfrm>
          <a:prstGeom prst="rect">
            <a:avLst/>
          </a:prstGeom>
          <a:noFill/>
          <a:ln/>
        </p:spPr>
        <p:txBody>
          <a:bodyPr wrap="square" lIns="0" tIns="0" rIns="0" bIns="0" rtlCol="0" anchor="ctr"/>
          <a:lstStyle/>
          <a:p>
            <a:pPr marL="0" indent="0">
              <a:buNone/>
            </a:pPr>
            <a:r>
              <a:rPr lang="en-US" sz="1450" b="1" dirty="0">
                <a:solidFill>
                  <a:srgbClr val="173236"/>
                </a:solidFill>
              </a:rPr>
              <a:t>Test constantly</a:t>
            </a:r>
            <a:endParaRPr lang="en-US" sz="1450" dirty="0"/>
          </a:p>
        </p:txBody>
      </p:sp>
      <p:sp>
        <p:nvSpPr>
          <p:cNvPr id="21" name="Text 18"/>
          <p:cNvSpPr/>
          <p:nvPr/>
        </p:nvSpPr>
        <p:spPr>
          <a:xfrm>
            <a:off x="1508760" y="4727448"/>
            <a:ext cx="4206240" cy="201168"/>
          </a:xfrm>
          <a:prstGeom prst="rect">
            <a:avLst/>
          </a:prstGeom>
          <a:noFill/>
          <a:ln/>
        </p:spPr>
        <p:txBody>
          <a:bodyPr wrap="square" lIns="0" tIns="0" rIns="0" bIns="0" rtlCol="0" anchor="ctr"/>
          <a:lstStyle/>
          <a:p>
            <a:pPr marL="0" indent="0">
              <a:buNone/>
            </a:pPr>
            <a:r>
              <a:rPr lang="en-US" sz="1050" dirty="0">
                <a:solidFill>
                  <a:srgbClr val="5B6B70"/>
                </a:solidFill>
              </a:rPr>
              <a:t>Checked flow, progress and deployed site</a:t>
            </a:r>
            <a:endParaRPr lang="en-US" sz="1050" dirty="0"/>
          </a:p>
        </p:txBody>
      </p:sp>
      <p:sp>
        <p:nvSpPr>
          <p:cNvPr id="22" name="Text 19"/>
          <p:cNvSpPr/>
          <p:nvPr/>
        </p:nvSpPr>
        <p:spPr>
          <a:xfrm>
            <a:off x="502920" y="6565392"/>
            <a:ext cx="4114800" cy="164592"/>
          </a:xfrm>
          <a:prstGeom prst="rect">
            <a:avLst/>
          </a:prstGeom>
          <a:noFill/>
          <a:ln/>
        </p:spPr>
        <p:txBody>
          <a:bodyPr wrap="square" lIns="0" tIns="0" rIns="0" bIns="0" rtlCol="0" anchor="ctr"/>
          <a:lstStyle/>
          <a:p>
            <a:pPr marL="0" indent="0">
              <a:buNone/>
            </a:pPr>
            <a:r>
              <a:rPr lang="en-US" sz="780" dirty="0">
                <a:solidFill>
                  <a:srgbClr val="829294"/>
                </a:solidFill>
              </a:rPr>
              <a:t>STUDYSTART · AI for Good Hackathon 1</a:t>
            </a:r>
            <a:endParaRPr lang="en-US" sz="780" dirty="0"/>
          </a:p>
        </p:txBody>
      </p:sp>
      <p:sp>
        <p:nvSpPr>
          <p:cNvPr id="23" name="Text 20"/>
          <p:cNvSpPr/>
          <p:nvPr/>
        </p:nvSpPr>
        <p:spPr>
          <a:xfrm>
            <a:off x="11292840" y="6510528"/>
            <a:ext cx="411480" cy="219456"/>
          </a:xfrm>
          <a:prstGeom prst="rect">
            <a:avLst/>
          </a:prstGeom>
          <a:noFill/>
          <a:ln/>
        </p:spPr>
        <p:txBody>
          <a:bodyPr wrap="square" lIns="0" tIns="0" rIns="0" bIns="0" rtlCol="0" anchor="ctr"/>
          <a:lstStyle/>
          <a:p>
            <a:pPr marL="0" indent="0" algn="r">
              <a:buNone/>
            </a:pPr>
            <a:r>
              <a:rPr lang="en-US" sz="850" dirty="0">
                <a:solidFill>
                  <a:srgbClr val="829294"/>
                </a:solidFill>
              </a:rPr>
              <a:t>08</a:t>
            </a:r>
            <a:endParaRPr lang="en-US" sz="85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502920" y="292608"/>
            <a:ext cx="7132320" cy="411480"/>
          </a:xfrm>
          <a:prstGeom prst="rect">
            <a:avLst/>
          </a:prstGeom>
          <a:noFill/>
          <a:ln/>
        </p:spPr>
        <p:txBody>
          <a:bodyPr wrap="square" lIns="0" tIns="0" rIns="0" bIns="0" rtlCol="0" anchor="ctr"/>
          <a:lstStyle/>
          <a:p>
            <a:pPr marL="0" indent="0">
              <a:buNone/>
            </a:pPr>
            <a:r>
              <a:rPr lang="en-US" sz="2400" b="1" dirty="0">
                <a:solidFill>
                  <a:srgbClr val="173236"/>
                </a:solidFill>
                <a:latin typeface="Aptos Display" pitchFamily="34" charset="0"/>
                <a:ea typeface="Aptos Display" pitchFamily="34" charset="-122"/>
                <a:cs typeface="Aptos Display" pitchFamily="34" charset="-120"/>
              </a:rPr>
              <a:t>Ethical reflection</a:t>
            </a:r>
            <a:endParaRPr lang="en-US" sz="2400" dirty="0"/>
          </a:p>
        </p:txBody>
      </p:sp>
      <p:sp>
        <p:nvSpPr>
          <p:cNvPr id="3" name="Text 1"/>
          <p:cNvSpPr/>
          <p:nvPr/>
        </p:nvSpPr>
        <p:spPr>
          <a:xfrm>
            <a:off x="530352" y="749808"/>
            <a:ext cx="8412480" cy="292608"/>
          </a:xfrm>
          <a:prstGeom prst="rect">
            <a:avLst/>
          </a:prstGeom>
          <a:noFill/>
          <a:ln/>
        </p:spPr>
        <p:txBody>
          <a:bodyPr wrap="square" lIns="0" tIns="0" rIns="0" bIns="0" rtlCol="0" anchor="ctr"/>
          <a:lstStyle/>
          <a:p>
            <a:pPr marL="0" indent="0">
              <a:buNone/>
            </a:pPr>
            <a:r>
              <a:rPr lang="en-US" sz="1050" dirty="0">
                <a:solidFill>
                  <a:srgbClr val="5B6B70"/>
                </a:solidFill>
              </a:rPr>
              <a:t>Useful support can still exclude or mislead people.</a:t>
            </a:r>
            <a:endParaRPr lang="en-US" sz="1050" dirty="0"/>
          </a:p>
        </p:txBody>
      </p:sp>
      <p:sp>
        <p:nvSpPr>
          <p:cNvPr id="4" name="Shape 2"/>
          <p:cNvSpPr/>
          <p:nvPr/>
        </p:nvSpPr>
        <p:spPr>
          <a:xfrm>
            <a:off x="512064" y="1133856"/>
            <a:ext cx="1828800" cy="0"/>
          </a:xfrm>
          <a:prstGeom prst="line">
            <a:avLst/>
          </a:prstGeom>
          <a:noFill/>
          <a:ln w="25400">
            <a:solidFill>
              <a:srgbClr val="0E6B66"/>
            </a:solidFill>
            <a:prstDash val="solid"/>
          </a:ln>
        </p:spPr>
        <p:txBody>
          <a:bodyPr/>
          <a:lstStyle/>
          <a:p>
            <a:endParaRPr lang="nl-NL"/>
          </a:p>
        </p:txBody>
      </p:sp>
      <p:sp>
        <p:nvSpPr>
          <p:cNvPr id="5" name="Text 3"/>
          <p:cNvSpPr/>
          <p:nvPr/>
        </p:nvSpPr>
        <p:spPr>
          <a:xfrm>
            <a:off x="713232" y="1417320"/>
            <a:ext cx="1828800" cy="274320"/>
          </a:xfrm>
          <a:prstGeom prst="rect">
            <a:avLst/>
          </a:prstGeom>
          <a:noFill/>
          <a:ln/>
        </p:spPr>
        <p:txBody>
          <a:bodyPr wrap="square" lIns="0" tIns="0" rIns="0" bIns="0" rtlCol="0" anchor="ctr"/>
          <a:lstStyle/>
          <a:p>
            <a:pPr marL="0" indent="0">
              <a:buNone/>
            </a:pPr>
            <a:r>
              <a:rPr lang="en-US" sz="1600" b="1" dirty="0">
                <a:solidFill>
                  <a:srgbClr val="EA7B66"/>
                </a:solidFill>
              </a:rPr>
              <a:t>Risks</a:t>
            </a:r>
            <a:endParaRPr lang="en-US" sz="1600" dirty="0"/>
          </a:p>
        </p:txBody>
      </p:sp>
      <p:sp>
        <p:nvSpPr>
          <p:cNvPr id="6" name="Text 4"/>
          <p:cNvSpPr/>
          <p:nvPr/>
        </p:nvSpPr>
        <p:spPr>
          <a:xfrm>
            <a:off x="804672" y="1874520"/>
            <a:ext cx="4937760" cy="457200"/>
          </a:xfrm>
          <a:prstGeom prst="rect">
            <a:avLst/>
          </a:prstGeom>
          <a:noFill/>
          <a:ln/>
        </p:spPr>
        <p:txBody>
          <a:bodyPr wrap="square" lIns="0" tIns="0" rIns="0" bIns="0" rtlCol="0" anchor="t">
            <a:normAutofit/>
          </a:bodyPr>
          <a:lstStyle/>
          <a:p>
            <a:pPr marL="0" indent="0">
              <a:buNone/>
            </a:pPr>
            <a:r>
              <a:rPr lang="en-US" sz="1300" b="1" dirty="0">
                <a:solidFill>
                  <a:srgbClr val="EA7B66"/>
                </a:solidFill>
              </a:rPr>
              <a:t>• </a:t>
            </a:r>
            <a:r>
              <a:rPr lang="en-US" sz="1300" dirty="0">
                <a:solidFill>
                  <a:srgbClr val="173236"/>
                </a:solidFill>
              </a:rPr>
              <a:t>Requires basic English and digital skills</a:t>
            </a:r>
            <a:endParaRPr lang="en-US" sz="1300" dirty="0"/>
          </a:p>
        </p:txBody>
      </p:sp>
      <p:sp>
        <p:nvSpPr>
          <p:cNvPr id="7" name="Text 5"/>
          <p:cNvSpPr/>
          <p:nvPr/>
        </p:nvSpPr>
        <p:spPr>
          <a:xfrm>
            <a:off x="804672" y="2487168"/>
            <a:ext cx="4937760" cy="457200"/>
          </a:xfrm>
          <a:prstGeom prst="rect">
            <a:avLst/>
          </a:prstGeom>
          <a:noFill/>
          <a:ln/>
        </p:spPr>
        <p:txBody>
          <a:bodyPr wrap="square" lIns="0" tIns="0" rIns="0" bIns="0" rtlCol="0" anchor="t">
            <a:normAutofit/>
          </a:bodyPr>
          <a:lstStyle/>
          <a:p>
            <a:pPr marL="0" indent="0">
              <a:buNone/>
            </a:pPr>
            <a:r>
              <a:rPr lang="en-US" sz="1300" b="1" dirty="0">
                <a:solidFill>
                  <a:srgbClr val="EA7B66"/>
                </a:solidFill>
              </a:rPr>
              <a:t>• </a:t>
            </a:r>
            <a:r>
              <a:rPr lang="en-US" sz="1300" dirty="0">
                <a:solidFill>
                  <a:srgbClr val="173236"/>
                </a:solidFill>
              </a:rPr>
              <a:t>Information can become outdated</a:t>
            </a:r>
            <a:endParaRPr lang="en-US" sz="1300" dirty="0"/>
          </a:p>
        </p:txBody>
      </p:sp>
      <p:sp>
        <p:nvSpPr>
          <p:cNvPr id="8" name="Text 6"/>
          <p:cNvSpPr/>
          <p:nvPr/>
        </p:nvSpPr>
        <p:spPr>
          <a:xfrm>
            <a:off x="804672" y="3099816"/>
            <a:ext cx="4937760" cy="457200"/>
          </a:xfrm>
          <a:prstGeom prst="rect">
            <a:avLst/>
          </a:prstGeom>
          <a:noFill/>
          <a:ln/>
        </p:spPr>
        <p:txBody>
          <a:bodyPr wrap="square" lIns="0" tIns="0" rIns="0" bIns="0" rtlCol="0" anchor="t">
            <a:normAutofit/>
          </a:bodyPr>
          <a:lstStyle/>
          <a:p>
            <a:pPr marL="0" indent="0">
              <a:buNone/>
            </a:pPr>
            <a:r>
              <a:rPr lang="en-US" sz="1300" b="1" dirty="0">
                <a:solidFill>
                  <a:srgbClr val="EA7B66"/>
                </a:solidFill>
              </a:rPr>
              <a:t>• </a:t>
            </a:r>
            <a:r>
              <a:rPr lang="en-US" sz="1300" dirty="0">
                <a:solidFill>
                  <a:srgbClr val="173236"/>
                </a:solidFill>
              </a:rPr>
              <a:t>Students may rely on the app instead of asking official support</a:t>
            </a:r>
            <a:endParaRPr lang="en-US" sz="1300" dirty="0"/>
          </a:p>
        </p:txBody>
      </p:sp>
      <p:sp>
        <p:nvSpPr>
          <p:cNvPr id="9" name="Text 7"/>
          <p:cNvSpPr/>
          <p:nvPr/>
        </p:nvSpPr>
        <p:spPr>
          <a:xfrm>
            <a:off x="804672" y="3712464"/>
            <a:ext cx="4937760" cy="457200"/>
          </a:xfrm>
          <a:prstGeom prst="rect">
            <a:avLst/>
          </a:prstGeom>
          <a:noFill/>
          <a:ln/>
        </p:spPr>
        <p:txBody>
          <a:bodyPr wrap="square" lIns="0" tIns="0" rIns="0" bIns="0" rtlCol="0" anchor="t">
            <a:normAutofit/>
          </a:bodyPr>
          <a:lstStyle/>
          <a:p>
            <a:pPr marL="0" indent="0">
              <a:buNone/>
            </a:pPr>
            <a:r>
              <a:rPr lang="en-US" sz="1300" b="1" dirty="0">
                <a:solidFill>
                  <a:srgbClr val="EA7B66"/>
                </a:solidFill>
              </a:rPr>
              <a:t>• </a:t>
            </a:r>
            <a:r>
              <a:rPr lang="en-US" sz="1300" dirty="0">
                <a:solidFill>
                  <a:srgbClr val="173236"/>
                </a:solidFill>
              </a:rPr>
              <a:t>Not suitable for personal or financial decisions</a:t>
            </a:r>
            <a:endParaRPr lang="en-US" sz="1300" dirty="0"/>
          </a:p>
        </p:txBody>
      </p:sp>
      <p:sp>
        <p:nvSpPr>
          <p:cNvPr id="10" name="Text 8"/>
          <p:cNvSpPr/>
          <p:nvPr/>
        </p:nvSpPr>
        <p:spPr>
          <a:xfrm>
            <a:off x="6309360" y="1417320"/>
            <a:ext cx="2286000" cy="274320"/>
          </a:xfrm>
          <a:prstGeom prst="rect">
            <a:avLst/>
          </a:prstGeom>
          <a:noFill/>
          <a:ln/>
        </p:spPr>
        <p:txBody>
          <a:bodyPr wrap="square" lIns="0" tIns="0" rIns="0" bIns="0" rtlCol="0" anchor="ctr"/>
          <a:lstStyle/>
          <a:p>
            <a:pPr marL="0" indent="0">
              <a:buNone/>
            </a:pPr>
            <a:r>
              <a:rPr lang="en-US" sz="1600" b="1" dirty="0">
                <a:solidFill>
                  <a:srgbClr val="0E6B66"/>
                </a:solidFill>
              </a:rPr>
              <a:t>Mitigations</a:t>
            </a:r>
            <a:endParaRPr lang="en-US" sz="1600" dirty="0"/>
          </a:p>
        </p:txBody>
      </p:sp>
      <p:sp>
        <p:nvSpPr>
          <p:cNvPr id="11" name="Text 9"/>
          <p:cNvSpPr/>
          <p:nvPr/>
        </p:nvSpPr>
        <p:spPr>
          <a:xfrm>
            <a:off x="6400800" y="1874520"/>
            <a:ext cx="5029200" cy="457200"/>
          </a:xfrm>
          <a:prstGeom prst="rect">
            <a:avLst/>
          </a:prstGeom>
          <a:noFill/>
          <a:ln/>
        </p:spPr>
        <p:txBody>
          <a:bodyPr wrap="square" lIns="0" tIns="0" rIns="0" bIns="0" rtlCol="0" anchor="t">
            <a:normAutofit/>
          </a:bodyPr>
          <a:lstStyle/>
          <a:p>
            <a:pPr marL="0" indent="0">
              <a:buNone/>
            </a:pPr>
            <a:r>
              <a:rPr lang="en-US" sz="1300" b="1" dirty="0">
                <a:solidFill>
                  <a:srgbClr val="0E6B66"/>
                </a:solidFill>
              </a:rPr>
              <a:t>• </a:t>
            </a:r>
            <a:r>
              <a:rPr lang="en-US" sz="1300" dirty="0">
                <a:solidFill>
                  <a:srgbClr val="173236"/>
                </a:solidFill>
              </a:rPr>
              <a:t>Simple language and short modules</a:t>
            </a:r>
            <a:endParaRPr lang="en-US" sz="1300" dirty="0"/>
          </a:p>
        </p:txBody>
      </p:sp>
      <p:sp>
        <p:nvSpPr>
          <p:cNvPr id="12" name="Text 10"/>
          <p:cNvSpPr/>
          <p:nvPr/>
        </p:nvSpPr>
        <p:spPr>
          <a:xfrm>
            <a:off x="6400800" y="2487168"/>
            <a:ext cx="5029200" cy="457200"/>
          </a:xfrm>
          <a:prstGeom prst="rect">
            <a:avLst/>
          </a:prstGeom>
          <a:noFill/>
          <a:ln/>
        </p:spPr>
        <p:txBody>
          <a:bodyPr wrap="square" lIns="0" tIns="0" rIns="0" bIns="0" rtlCol="0" anchor="t">
            <a:normAutofit/>
          </a:bodyPr>
          <a:lstStyle/>
          <a:p>
            <a:pPr marL="0" indent="0">
              <a:buNone/>
            </a:pPr>
            <a:r>
              <a:rPr lang="en-US" sz="1300" b="1" dirty="0">
                <a:solidFill>
                  <a:srgbClr val="0E6B66"/>
                </a:solidFill>
              </a:rPr>
              <a:t>• </a:t>
            </a:r>
            <a:r>
              <a:rPr lang="en-US" sz="1300" dirty="0">
                <a:solidFill>
                  <a:srgbClr val="173236"/>
                </a:solidFill>
              </a:rPr>
              <a:t>Official links to THUAS systems</a:t>
            </a:r>
            <a:endParaRPr lang="en-US" sz="1300" dirty="0"/>
          </a:p>
        </p:txBody>
      </p:sp>
      <p:sp>
        <p:nvSpPr>
          <p:cNvPr id="13" name="Text 11"/>
          <p:cNvSpPr/>
          <p:nvPr/>
        </p:nvSpPr>
        <p:spPr>
          <a:xfrm>
            <a:off x="6400800" y="3099816"/>
            <a:ext cx="5029200" cy="457200"/>
          </a:xfrm>
          <a:prstGeom prst="rect">
            <a:avLst/>
          </a:prstGeom>
          <a:noFill/>
          <a:ln/>
        </p:spPr>
        <p:txBody>
          <a:bodyPr wrap="square" lIns="0" tIns="0" rIns="0" bIns="0" rtlCol="0" anchor="t">
            <a:normAutofit/>
          </a:bodyPr>
          <a:lstStyle/>
          <a:p>
            <a:pPr marL="0" indent="0">
              <a:buNone/>
            </a:pPr>
            <a:r>
              <a:rPr lang="en-US" sz="1300" b="1" dirty="0">
                <a:solidFill>
                  <a:srgbClr val="0E6B66"/>
                </a:solidFill>
              </a:rPr>
              <a:t>• </a:t>
            </a:r>
            <a:r>
              <a:rPr lang="en-US" sz="1300" dirty="0">
                <a:solidFill>
                  <a:srgbClr val="173236"/>
                </a:solidFill>
              </a:rPr>
              <a:t>No invented contact details</a:t>
            </a:r>
            <a:endParaRPr lang="en-US" sz="1300" dirty="0"/>
          </a:p>
        </p:txBody>
      </p:sp>
      <p:sp>
        <p:nvSpPr>
          <p:cNvPr id="14" name="Text 12"/>
          <p:cNvSpPr/>
          <p:nvPr/>
        </p:nvSpPr>
        <p:spPr>
          <a:xfrm>
            <a:off x="6400800" y="3712464"/>
            <a:ext cx="5029200" cy="457200"/>
          </a:xfrm>
          <a:prstGeom prst="rect">
            <a:avLst/>
          </a:prstGeom>
          <a:noFill/>
          <a:ln/>
        </p:spPr>
        <p:txBody>
          <a:bodyPr wrap="square" lIns="0" tIns="0" rIns="0" bIns="0" rtlCol="0" anchor="t">
            <a:normAutofit/>
          </a:bodyPr>
          <a:lstStyle/>
          <a:p>
            <a:pPr marL="0" indent="0">
              <a:buNone/>
            </a:pPr>
            <a:r>
              <a:rPr lang="en-US" sz="1300" b="1" dirty="0">
                <a:solidFill>
                  <a:srgbClr val="0E6B66"/>
                </a:solidFill>
              </a:rPr>
              <a:t>• </a:t>
            </a:r>
            <a:r>
              <a:rPr lang="en-US" sz="1300" dirty="0">
                <a:solidFill>
                  <a:srgbClr val="173236"/>
                </a:solidFill>
              </a:rPr>
              <a:t>Clear: this is support, not official advice</a:t>
            </a:r>
            <a:endParaRPr lang="en-US" sz="1300" dirty="0"/>
          </a:p>
        </p:txBody>
      </p:sp>
      <p:sp>
        <p:nvSpPr>
          <p:cNvPr id="15" name="Shape 13"/>
          <p:cNvSpPr/>
          <p:nvPr/>
        </p:nvSpPr>
        <p:spPr>
          <a:xfrm>
            <a:off x="5989320" y="1508760"/>
            <a:ext cx="0" cy="3840480"/>
          </a:xfrm>
          <a:prstGeom prst="line">
            <a:avLst/>
          </a:prstGeom>
          <a:noFill/>
          <a:ln w="19050">
            <a:solidFill>
              <a:srgbClr val="DFE7E4"/>
            </a:solidFill>
            <a:prstDash val="solid"/>
          </a:ln>
        </p:spPr>
        <p:txBody>
          <a:bodyPr/>
          <a:lstStyle/>
          <a:p>
            <a:endParaRPr lang="nl-NL"/>
          </a:p>
        </p:txBody>
      </p:sp>
      <p:sp>
        <p:nvSpPr>
          <p:cNvPr id="16" name="Shape 14"/>
          <p:cNvSpPr/>
          <p:nvPr/>
        </p:nvSpPr>
        <p:spPr>
          <a:xfrm>
            <a:off x="914400" y="5532120"/>
            <a:ext cx="10241280" cy="594360"/>
          </a:xfrm>
          <a:prstGeom prst="roundRect">
            <a:avLst>
              <a:gd name="adj" fmla="val 23077"/>
            </a:avLst>
          </a:prstGeom>
          <a:solidFill>
            <a:srgbClr val="FFFFFF"/>
          </a:solidFill>
          <a:ln w="12700">
            <a:solidFill>
              <a:srgbClr val="DFE7E4">
                <a:alpha val="70000"/>
              </a:srgbClr>
            </a:solidFill>
            <a:prstDash val="solid"/>
          </a:ln>
        </p:spPr>
        <p:txBody>
          <a:bodyPr/>
          <a:lstStyle/>
          <a:p>
            <a:endParaRPr lang="nl-NL"/>
          </a:p>
        </p:txBody>
      </p:sp>
      <p:sp>
        <p:nvSpPr>
          <p:cNvPr id="17" name="Text 15"/>
          <p:cNvSpPr/>
          <p:nvPr/>
        </p:nvSpPr>
        <p:spPr>
          <a:xfrm>
            <a:off x="1143000" y="5742432"/>
            <a:ext cx="9784080" cy="164592"/>
          </a:xfrm>
          <a:prstGeom prst="rect">
            <a:avLst/>
          </a:prstGeom>
          <a:noFill/>
          <a:ln/>
        </p:spPr>
        <p:txBody>
          <a:bodyPr wrap="square" lIns="0" tIns="0" rIns="0" bIns="0" rtlCol="0" anchor="ctr"/>
          <a:lstStyle/>
          <a:p>
            <a:pPr marL="0" indent="0" algn="ctr">
              <a:buNone/>
            </a:pPr>
            <a:r>
              <a:rPr lang="en-US" sz="1250" b="1" dirty="0">
                <a:solidFill>
                  <a:srgbClr val="173236"/>
                </a:solidFill>
              </a:rPr>
              <a:t>Design principle: make it easier to ask for help, not replace human help.</a:t>
            </a:r>
            <a:endParaRPr lang="en-US" sz="1250" dirty="0"/>
          </a:p>
        </p:txBody>
      </p:sp>
      <p:sp>
        <p:nvSpPr>
          <p:cNvPr id="18" name="Text 16"/>
          <p:cNvSpPr/>
          <p:nvPr/>
        </p:nvSpPr>
        <p:spPr>
          <a:xfrm>
            <a:off x="502920" y="6565392"/>
            <a:ext cx="4114800" cy="164592"/>
          </a:xfrm>
          <a:prstGeom prst="rect">
            <a:avLst/>
          </a:prstGeom>
          <a:noFill/>
          <a:ln/>
        </p:spPr>
        <p:txBody>
          <a:bodyPr wrap="square" lIns="0" tIns="0" rIns="0" bIns="0" rtlCol="0" anchor="ctr"/>
          <a:lstStyle/>
          <a:p>
            <a:pPr marL="0" indent="0">
              <a:buNone/>
            </a:pPr>
            <a:r>
              <a:rPr lang="en-US" sz="780" dirty="0">
                <a:solidFill>
                  <a:srgbClr val="829294"/>
                </a:solidFill>
              </a:rPr>
              <a:t>STUDYSTART · AI for Good Hackathon 1</a:t>
            </a:r>
            <a:endParaRPr lang="en-US" sz="780" dirty="0"/>
          </a:p>
        </p:txBody>
      </p:sp>
      <p:sp>
        <p:nvSpPr>
          <p:cNvPr id="19" name="Text 17"/>
          <p:cNvSpPr/>
          <p:nvPr/>
        </p:nvSpPr>
        <p:spPr>
          <a:xfrm>
            <a:off x="11292840" y="6510528"/>
            <a:ext cx="411480" cy="219456"/>
          </a:xfrm>
          <a:prstGeom prst="rect">
            <a:avLst/>
          </a:prstGeom>
          <a:noFill/>
          <a:ln/>
        </p:spPr>
        <p:txBody>
          <a:bodyPr wrap="square" lIns="0" tIns="0" rIns="0" bIns="0" rtlCol="0" anchor="ctr"/>
          <a:lstStyle/>
          <a:p>
            <a:pPr marL="0" indent="0" algn="r">
              <a:buNone/>
            </a:pPr>
            <a:r>
              <a:rPr lang="en-US" sz="850" dirty="0">
                <a:solidFill>
                  <a:srgbClr val="829294"/>
                </a:solidFill>
              </a:rPr>
              <a:t>09</a:t>
            </a:r>
            <a:endParaRPr lang="en-US" sz="85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685800" y="667512"/>
            <a:ext cx="2286000" cy="310896"/>
          </a:xfrm>
          <a:prstGeom prst="roundRect">
            <a:avLst>
              <a:gd name="adj" fmla="val 23529"/>
            </a:avLst>
          </a:prstGeom>
          <a:solidFill>
            <a:srgbClr val="DDF3EF"/>
          </a:solidFill>
          <a:ln w="12700">
            <a:solidFill>
              <a:srgbClr val="DDF3EF"/>
            </a:solidFill>
            <a:prstDash val="solid"/>
          </a:ln>
        </p:spPr>
        <p:txBody>
          <a:bodyPr/>
          <a:lstStyle/>
          <a:p>
            <a:endParaRPr/>
          </a:p>
        </p:txBody>
      </p:sp>
      <p:sp>
        <p:nvSpPr>
          <p:cNvPr id="4" name="Text 1"/>
          <p:cNvSpPr/>
          <p:nvPr/>
        </p:nvSpPr>
        <p:spPr>
          <a:xfrm>
            <a:off x="795528" y="749808"/>
            <a:ext cx="2066544" cy="146304"/>
          </a:xfrm>
          <a:prstGeom prst="rect">
            <a:avLst/>
          </a:prstGeom>
          <a:noFill/>
          <a:ln/>
        </p:spPr>
        <p:txBody>
          <a:bodyPr wrap="square" lIns="0" tIns="0" rIns="0" bIns="0" rtlCol="0" anchor="ctr"/>
          <a:lstStyle/>
          <a:p>
            <a:pPr marL="0" indent="0" algn="ctr">
              <a:buNone/>
            </a:pPr>
            <a:r>
              <a:rPr sz="1200" b="1">
                <a:solidFill>
                  <a:srgbClr val="0F766E"/>
                </a:solidFill>
              </a:rPr>
              <a:t>AI FOR GOOD · HACKATHON 1</a:t>
            </a:r>
            <a:endParaRPr lang="en-US" sz="850" dirty="0"/>
          </a:p>
        </p:txBody>
      </p:sp>
      <p:sp>
        <p:nvSpPr>
          <p:cNvPr id="5" name="Text 2"/>
          <p:cNvSpPr/>
          <p:nvPr/>
        </p:nvSpPr>
        <p:spPr>
          <a:xfrm>
            <a:off x="667512" y="1325880"/>
            <a:ext cx="4800600" cy="658368"/>
          </a:xfrm>
          <a:prstGeom prst="rect">
            <a:avLst/>
          </a:prstGeom>
          <a:noFill/>
          <a:ln/>
        </p:spPr>
        <p:txBody>
          <a:bodyPr wrap="square" lIns="0" tIns="0" rIns="0" bIns="0" rtlCol="0" anchor="ctr"/>
          <a:lstStyle/>
          <a:p>
            <a:pPr marL="0" indent="0">
              <a:buNone/>
            </a:pPr>
            <a:r>
              <a:rPr sz="5400" b="1">
                <a:solidFill>
                  <a:srgbClr val="0F766E"/>
                </a:solidFill>
              </a:rPr>
              <a:t>Questions?</a:t>
            </a:r>
            <a:endParaRPr lang="en-US" sz="4200" dirty="0"/>
          </a:p>
        </p:txBody>
      </p:sp>
      <p:sp>
        <p:nvSpPr>
          <p:cNvPr id="6" name="Text 3"/>
          <p:cNvSpPr/>
          <p:nvPr/>
        </p:nvSpPr>
        <p:spPr>
          <a:xfrm>
            <a:off x="704088" y="2084832"/>
            <a:ext cx="4389120" cy="731520"/>
          </a:xfrm>
          <a:prstGeom prst="rect">
            <a:avLst/>
          </a:prstGeom>
          <a:noFill/>
          <a:ln/>
        </p:spPr>
        <p:txBody>
          <a:bodyPr wrap="square" lIns="0" tIns="0" rIns="0" bIns="0" rtlCol="0" anchor="ctr">
            <a:normAutofit/>
          </a:bodyPr>
          <a:lstStyle/>
          <a:p>
            <a:pPr marL="0" indent="0">
              <a:buNone/>
            </a:pPr>
            <a:r>
              <a:rPr sz="2500" b="0">
                <a:solidFill>
                  <a:srgbClr val="404040"/>
                </a:solidFill>
              </a:rPr>
              <a:t>Thank you for listening.</a:t>
            </a:r>
            <a:endParaRPr lang="en-US" sz="1800" dirty="0"/>
          </a:p>
        </p:txBody>
      </p:sp>
      <p:sp>
        <p:nvSpPr>
          <p:cNvPr id="7" name="Shape 4"/>
          <p:cNvSpPr/>
          <p:nvPr/>
        </p:nvSpPr>
        <p:spPr>
          <a:xfrm>
            <a:off x="713232" y="3063240"/>
            <a:ext cx="3383280" cy="0"/>
          </a:xfrm>
          <a:prstGeom prst="line">
            <a:avLst/>
          </a:prstGeom>
          <a:noFill/>
          <a:ln w="50800">
            <a:solidFill>
              <a:srgbClr val="F2B84B"/>
            </a:solidFill>
            <a:prstDash val="solid"/>
          </a:ln>
        </p:spPr>
        <p:txBody>
          <a:bodyPr/>
          <a:lstStyle/>
          <a:p>
            <a:endParaRPr/>
          </a:p>
        </p:txBody>
      </p:sp>
      <p:sp>
        <p:nvSpPr>
          <p:cNvPr id="8" name="Text 5"/>
          <p:cNvSpPr/>
          <p:nvPr/>
        </p:nvSpPr>
        <p:spPr>
          <a:xfrm>
            <a:off x="713232" y="3337560"/>
            <a:ext cx="4389120" cy="320040"/>
          </a:xfrm>
          <a:prstGeom prst="rect">
            <a:avLst/>
          </a:prstGeom>
          <a:noFill/>
          <a:ln/>
        </p:spPr>
        <p:txBody>
          <a:bodyPr wrap="square" lIns="0" tIns="0" rIns="0" bIns="0" rtlCol="0" anchor="ctr"/>
          <a:lstStyle/>
          <a:p>
            <a:pPr marL="0" indent="0">
              <a:buNone/>
            </a:pPr>
            <a:r>
              <a:rPr sz="1600" b="0">
                <a:solidFill>
                  <a:srgbClr val="0F766E"/>
                </a:solidFill>
              </a:rPr>
              <a:t>STUDYSTART · SDG 4 · Quality Education</a:t>
            </a:r>
            <a:endParaRPr lang="en-US" sz="1400" dirty="0"/>
          </a:p>
        </p:txBody>
      </p:sp>
      <p:sp>
        <p:nvSpPr>
          <p:cNvPr id="9" name="Text 6"/>
          <p:cNvSpPr/>
          <p:nvPr/>
        </p:nvSpPr>
        <p:spPr>
          <a:xfrm>
            <a:off x="713232" y="6309360"/>
            <a:ext cx="3657600" cy="228600"/>
          </a:xfrm>
          <a:prstGeom prst="rect">
            <a:avLst/>
          </a:prstGeom>
          <a:noFill/>
          <a:ln/>
        </p:spPr>
        <p:txBody>
          <a:bodyPr wrap="square" lIns="0" tIns="0" rIns="0" bIns="0" rtlCol="0" anchor="ctr"/>
          <a:lstStyle/>
          <a:p>
            <a:pPr marL="0" indent="0">
              <a:buNone/>
            </a:pPr>
            <a:r>
              <a:rPr sz="1300" b="0">
                <a:solidFill>
                  <a:srgbClr val="505050"/>
                </a:solidFill>
              </a:rPr>
              <a:t>Questions and feedback</a:t>
            </a:r>
            <a:endParaRPr lang="en-US" sz="950" dirty="0"/>
          </a:p>
        </p:txBody>
      </p:sp>
      <p:pic>
        <p:nvPicPr>
          <p:cNvPr id="10" name="Picture 9">
            <a:extLst>
              <a:ext uri="{FF2B5EF4-FFF2-40B4-BE49-F238E27FC236}">
                <a16:creationId xmlns:a16="http://schemas.microsoft.com/office/drawing/2014/main" id="{68D11B45-15BE-1F04-2ED1-8C5569178AC3}"/>
              </a:ext>
            </a:extLst>
          </p:cNvPr>
          <p:cNvPicPr>
            <a:picLocks noChangeAspect="1"/>
          </p:cNvPicPr>
          <p:nvPr/>
        </p:nvPicPr>
        <p:blipFill>
          <a:blip r:embed="rId2"/>
          <a:srcRect l="7498" t="15717"/>
          <a:stretch>
            <a:fillRect/>
          </a:stretch>
        </p:blipFill>
        <p:spPr>
          <a:xfrm>
            <a:off x="10590244" y="5524455"/>
            <a:ext cx="1022139" cy="8992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34E5F26B01AE4AB63B012F47EBD21E" ma:contentTypeVersion="3" ma:contentTypeDescription="Een nieuw document maken." ma:contentTypeScope="" ma:versionID="4650fb7df4edbe7c6a39d43939fd142b">
  <xsd:schema xmlns:xsd="http://www.w3.org/2001/XMLSchema" xmlns:xs="http://www.w3.org/2001/XMLSchema" xmlns:p="http://schemas.microsoft.com/office/2006/metadata/properties" xmlns:ns2="ca8d833c-c416-4360-950a-becab3004942" targetNamespace="http://schemas.microsoft.com/office/2006/metadata/properties" ma:root="true" ma:fieldsID="410b24d7652b9ab01ba4c698ce1a5e6c" ns2:_="">
    <xsd:import namespace="ca8d833c-c416-4360-950a-becab300494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8d833c-c416-4360-950a-becab30049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CB06DB-C2F1-47A7-83CC-721A290B00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8d833c-c416-4360-950a-becab30049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C0F0C7A-97A6-4688-9013-8E1A9E063A4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A09981E-A186-4124-9A35-580BB596E76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169</TotalTime>
  <Words>1184</Words>
  <Application>Microsoft Office PowerPoint</Application>
  <PresentationFormat>Widescreen</PresentationFormat>
  <Paragraphs>140</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 for Good Hackathon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STUDYSTART — AI for Good Hackathon 1</dc:title>
  <dc:subject>STUDYSTART presentation</dc:subject>
  <dc:creator>OpenAI</dc:creator>
  <cp:lastModifiedBy>Haki Abdulovski (23177314)</cp:lastModifiedBy>
  <cp:revision>18</cp:revision>
  <dcterms:created xsi:type="dcterms:W3CDTF">2026-09-10T10:06:38Z</dcterms:created>
  <dcterms:modified xsi:type="dcterms:W3CDTF">2026-09-10T23:28:07Z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0x0101008134E5F26B01AE4AB63B012F47EBD21E</vt:lpwstr>
  </property>
</Properties>
</file>